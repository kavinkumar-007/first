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5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_rels/notesSlide8.xml.rels" ContentType="application/vnd.openxmlformats-package.relationships+xml"/>
  <Override PartName="/ppt/notesSlides/notesSlide8.xml" ContentType="application/vnd.openxmlformats-officedocument.presentationml.notesSlide+xml"/>
  <Override PartName="/ppt/_rels/presentation.xml.rels" ContentType="application/vnd.openxmlformats-package.relationships+xml"/>
  <Override PartName="/ppt/media/image10.png" ContentType="image/png"/>
  <Override PartName="/ppt/media/image9.png" ContentType="image/png"/>
  <Override PartName="/ppt/media/image13.png" ContentType="image/png"/>
  <Override PartName="/ppt/media/image2.png" ContentType="image/png"/>
  <Override PartName="/ppt/media/image8.png" ContentType="image/png"/>
  <Override PartName="/ppt/media/image14.jpeg" ContentType="image/jpeg"/>
  <Override PartName="/ppt/media/image1.emf" ContentType="image/x-emf"/>
  <Override PartName="/ppt/media/image4.png" ContentType="image/png"/>
  <Override PartName="/ppt/media/image15.png" ContentType="image/png"/>
  <Override PartName="/ppt/media/image5.jpeg" ContentType="image/jpeg"/>
  <Override PartName="/ppt/media/image1.png" ContentType="image/png"/>
  <Override PartName="/ppt/media/image2.jpeg" ContentType="image/jpeg"/>
  <Override PartName="/ppt/media/image3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12.png" ContentType="image/png"/>
  <Override PartName="/ppt/slideLayouts/_rels/slideLayout52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53.xml.rels" ContentType="application/vnd.openxmlformats-package.relationships+xml"/>
  <Override PartName="/ppt/slideLayouts/slideLayout56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embeddings/oleObject1.docx" ContentType="application/vnd.openxmlformats-officedocument.wordprocessingml.document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5143500"/>
  <p:notesSz cx="6858000" cy="9144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247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248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249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pPr algn="r"/>
            <a:fld id="{DB9D682D-F662-41AC-853F-0A585B6249E8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</p:spPr>
        <p:txBody>
          <a:bodyPr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77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2B85631D-1A96-4478-B9F0-DFF132D060DD}" type="slidenum"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.xml"/><Relationship Id="rId6" Type="http://schemas.openxmlformats.org/officeDocument/2006/relationships/slideLayout" Target="../slideLayouts/slideLayout2.xml"/><Relationship Id="rId7" Type="http://schemas.openxmlformats.org/officeDocument/2006/relationships/slideLayout" Target="../slideLayouts/slideLayout3.xml"/><Relationship Id="rId8" Type="http://schemas.openxmlformats.org/officeDocument/2006/relationships/slideLayout" Target="../slideLayouts/slideLayout4.xml"/><Relationship Id="rId9" Type="http://schemas.openxmlformats.org/officeDocument/2006/relationships/slideLayout" Target="../slideLayouts/slideLayout5.xml"/><Relationship Id="rId10" Type="http://schemas.openxmlformats.org/officeDocument/2006/relationships/slideLayout" Target="../slideLayouts/slideLayout6.xml"/><Relationship Id="rId11" Type="http://schemas.openxmlformats.org/officeDocument/2006/relationships/slideLayout" Target="../slideLayouts/slideLayout7.xml"/><Relationship Id="rId12" Type="http://schemas.openxmlformats.org/officeDocument/2006/relationships/slideLayout" Target="../slideLayouts/slideLayout8.xml"/><Relationship Id="rId13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4.png"/><Relationship Id="rId3" Type="http://schemas.openxmlformats.org/officeDocument/2006/relationships/image" Target="../media/image5.jpeg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43.xml"/><Relationship Id="rId16" Type="http://schemas.openxmlformats.org/officeDocument/2006/relationships/slideLayout" Target="../slideLayouts/slideLayout44.xml"/><Relationship Id="rId17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46.xml"/><Relationship Id="rId19" Type="http://schemas.openxmlformats.org/officeDocument/2006/relationships/slideLayout" Target="../slideLayouts/slideLayout47.xml"/><Relationship Id="rId20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oogle Shape;57;p14" descr=""/>
          <p:cNvPicPr/>
          <p:nvPr/>
        </p:nvPicPr>
        <p:blipFill>
          <a:blip r:embed="rId2"/>
          <a:stretch/>
        </p:blipFill>
        <p:spPr>
          <a:xfrm>
            <a:off x="720" y="0"/>
            <a:ext cx="9141840" cy="5143320"/>
          </a:xfrm>
          <a:prstGeom prst="rect">
            <a:avLst/>
          </a:prstGeom>
          <a:ln>
            <a:noFill/>
          </a:ln>
        </p:spPr>
      </p:pic>
      <p:sp>
        <p:nvSpPr>
          <p:cNvPr id="1" name="CustomShape 1"/>
          <p:cNvSpPr/>
          <p:nvPr/>
        </p:nvSpPr>
        <p:spPr>
          <a:xfrm>
            <a:off x="343080" y="4857840"/>
            <a:ext cx="3068280" cy="190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pc="-1" strike="noStrike">
                <a:solidFill>
                  <a:srgbClr val="000000"/>
                </a:solidFill>
                <a:latin typeface="Calibri"/>
                <a:ea typeface="Calibri"/>
              </a:rPr>
              <a:t>©VVDN Technologies 2024 | Confidential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" name="CustomShape 2"/>
          <p:cNvSpPr/>
          <p:nvPr/>
        </p:nvSpPr>
        <p:spPr>
          <a:xfrm>
            <a:off x="7825680" y="4857840"/>
            <a:ext cx="1028160" cy="195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pc="-1" strike="noStrike">
                <a:solidFill>
                  <a:srgbClr val="000000"/>
                </a:solidFill>
                <a:latin typeface="Calibri"/>
                <a:ea typeface="Calibri"/>
              </a:rPr>
              <a:t>www.vvdntech.com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3" name="CustomShape 3"/>
          <p:cNvSpPr/>
          <p:nvPr/>
        </p:nvSpPr>
        <p:spPr>
          <a:xfrm>
            <a:off x="4477680" y="4868640"/>
            <a:ext cx="474840" cy="230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pc="-1" strike="noStrike">
                <a:solidFill>
                  <a:srgbClr val="000000"/>
                </a:solidFill>
                <a:latin typeface="Calibri"/>
                <a:ea typeface="Calibri"/>
              </a:rPr>
              <a:t>-</a:t>
            </a:r>
            <a:fld id="{3ABC2243-E3B7-42E2-B6D0-5793EB569058}" type="slidenum">
              <a:rPr b="0" lang="en" sz="800" spc="-1" strike="noStrike">
                <a:solidFill>
                  <a:srgbClr val="000000"/>
                </a:solidFill>
                <a:latin typeface="Calibri"/>
                <a:ea typeface="Calibri"/>
              </a:rPr>
              <a:t>&lt;number&gt;</a:t>
            </a:fld>
            <a:r>
              <a:rPr b="0" lang="en" sz="800" spc="-1" strike="noStrike">
                <a:solidFill>
                  <a:srgbClr val="000000"/>
                </a:solidFill>
                <a:latin typeface="Calibri"/>
                <a:ea typeface="Calibri"/>
              </a:rPr>
              <a:t>-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4" name="CustomShape 4"/>
          <p:cNvSpPr/>
          <p:nvPr/>
        </p:nvSpPr>
        <p:spPr>
          <a:xfrm>
            <a:off x="444600" y="176400"/>
            <a:ext cx="1156680" cy="81360"/>
          </a:xfrm>
          <a:prstGeom prst="rect">
            <a:avLst/>
          </a:prstGeom>
          <a:solidFill>
            <a:srgbClr val="003761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5" name="Google Shape;65;p15" descr=""/>
          <p:cNvPicPr/>
          <p:nvPr/>
        </p:nvPicPr>
        <p:blipFill>
          <a:blip r:embed="rId3"/>
          <a:stretch/>
        </p:blipFill>
        <p:spPr>
          <a:xfrm>
            <a:off x="0" y="-7200"/>
            <a:ext cx="9142560" cy="5150160"/>
          </a:xfrm>
          <a:prstGeom prst="rect">
            <a:avLst/>
          </a:prstGeom>
          <a:ln>
            <a:noFill/>
          </a:ln>
        </p:spPr>
      </p:pic>
      <p:pic>
        <p:nvPicPr>
          <p:cNvPr id="6" name="Google Shape;66;p15" descr="E:\vvdn\ppt\imgpsh_fullsize_anim.png"/>
          <p:cNvPicPr/>
          <p:nvPr/>
        </p:nvPicPr>
        <p:blipFill>
          <a:blip r:embed="rId4"/>
          <a:stretch/>
        </p:blipFill>
        <p:spPr>
          <a:xfrm>
            <a:off x="97920" y="74880"/>
            <a:ext cx="2303640" cy="847080"/>
          </a:xfrm>
          <a:prstGeom prst="rect">
            <a:avLst/>
          </a:prstGeom>
          <a:ln>
            <a:noFill/>
          </a:ln>
        </p:spPr>
      </p:pic>
      <p:sp>
        <p:nvSpPr>
          <p:cNvPr id="7" name="CustomShape 5"/>
          <p:cNvSpPr/>
          <p:nvPr/>
        </p:nvSpPr>
        <p:spPr>
          <a:xfrm>
            <a:off x="7578000" y="4831920"/>
            <a:ext cx="1255680" cy="311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800" spc="-1" strike="noStrike">
                <a:solidFill>
                  <a:srgbClr val="000000"/>
                </a:solidFill>
                <a:latin typeface="Calibri"/>
                <a:ea typeface="Calibri"/>
              </a:rPr>
              <a:t>www.vvdntech.com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8" name="CustomShape 6"/>
          <p:cNvSpPr/>
          <p:nvPr/>
        </p:nvSpPr>
        <p:spPr>
          <a:xfrm>
            <a:off x="217080" y="4860720"/>
            <a:ext cx="2488320" cy="311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800" spc="-1" strike="noStrike">
                <a:solidFill>
                  <a:srgbClr val="000000"/>
                </a:solidFill>
                <a:latin typeface="Calibri"/>
                <a:ea typeface="Calibri"/>
              </a:rPr>
              <a:t>© VVDN Technologies 2024 | Confidential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9" name="PlaceHolder 7"/>
          <p:cNvSpPr>
            <a:spLocks noGrp="1"/>
          </p:cNvSpPr>
          <p:nvPr>
            <p:ph type="body"/>
          </p:nvPr>
        </p:nvSpPr>
        <p:spPr>
          <a:xfrm>
            <a:off x="5770440" y="3695040"/>
            <a:ext cx="969840" cy="22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Click to edit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the outline text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Second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Outline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Thir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d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Outl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ine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Lev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F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x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8"/>
          <p:cNvSpPr>
            <a:spLocks noGrp="1"/>
          </p:cNvSpPr>
          <p:nvPr>
            <p:ph type="title"/>
          </p:nvPr>
        </p:nvSpPr>
        <p:spPr>
          <a:xfrm>
            <a:off x="3526920" y="2432520"/>
            <a:ext cx="5456520" cy="708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CustomShape 9"/>
          <p:cNvSpPr/>
          <p:nvPr/>
        </p:nvSpPr>
        <p:spPr>
          <a:xfrm>
            <a:off x="3526920" y="3244680"/>
            <a:ext cx="5456520" cy="343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900" spc="-1" strike="noStrike">
                <a:solidFill>
                  <a:srgbClr val="ffffff"/>
                </a:solidFill>
                <a:latin typeface="Montserrat Medium"/>
                <a:ea typeface="Montserrat Medium"/>
              </a:rPr>
              <a:t>Premier Electronics Engineering &amp; Manufacturing Company</a:t>
            </a:r>
            <a:endParaRPr b="0" lang="en-IN" sz="900" spc="-1" strike="noStrike"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900" spc="-1" strike="noStrike">
                <a:solidFill>
                  <a:srgbClr val="ffffff"/>
                </a:solidFill>
                <a:latin typeface="Montserrat Medium"/>
                <a:ea typeface="Montserrat Medium"/>
              </a:rPr>
              <a:t>Creating Opportunities &amp; Transforming Lives !</a:t>
            </a:r>
            <a:endParaRPr b="0" lang="en-IN" sz="9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0" r:id="rId16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57;p14" descr=""/>
          <p:cNvPicPr/>
          <p:nvPr/>
        </p:nvPicPr>
        <p:blipFill>
          <a:blip r:embed="rId2"/>
          <a:stretch/>
        </p:blipFill>
        <p:spPr>
          <a:xfrm>
            <a:off x="720" y="0"/>
            <a:ext cx="9141840" cy="5143320"/>
          </a:xfrm>
          <a:prstGeom prst="rect">
            <a:avLst/>
          </a:prstGeom>
          <a:ln>
            <a:noFill/>
          </a:ln>
        </p:spPr>
      </p:pic>
      <p:sp>
        <p:nvSpPr>
          <p:cNvPr id="49" name="CustomShape 1"/>
          <p:cNvSpPr/>
          <p:nvPr/>
        </p:nvSpPr>
        <p:spPr>
          <a:xfrm>
            <a:off x="343080" y="4857840"/>
            <a:ext cx="3068280" cy="190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pc="-1" strike="noStrike">
                <a:solidFill>
                  <a:srgbClr val="000000"/>
                </a:solidFill>
                <a:latin typeface="Calibri"/>
                <a:ea typeface="Calibri"/>
              </a:rPr>
              <a:t>©VVDN Technologies 2024 | Confidential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50" name="CustomShape 2"/>
          <p:cNvSpPr/>
          <p:nvPr/>
        </p:nvSpPr>
        <p:spPr>
          <a:xfrm>
            <a:off x="7825680" y="4857840"/>
            <a:ext cx="1028160" cy="195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pc="-1" strike="noStrike">
                <a:solidFill>
                  <a:srgbClr val="000000"/>
                </a:solidFill>
                <a:latin typeface="Calibri"/>
                <a:ea typeface="Calibri"/>
              </a:rPr>
              <a:t>www.vvdntech.com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51" name="CustomShape 3"/>
          <p:cNvSpPr/>
          <p:nvPr/>
        </p:nvSpPr>
        <p:spPr>
          <a:xfrm>
            <a:off x="4477680" y="4868640"/>
            <a:ext cx="474840" cy="230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pc="-1" strike="noStrike">
                <a:solidFill>
                  <a:srgbClr val="000000"/>
                </a:solidFill>
                <a:latin typeface="Calibri"/>
                <a:ea typeface="Calibri"/>
              </a:rPr>
              <a:t>-</a:t>
            </a:r>
            <a:fld id="{C209E643-EA47-4013-8213-68B096247CAE}" type="slidenum">
              <a:rPr b="0" lang="en" sz="800" spc="-1" strike="noStrike">
                <a:solidFill>
                  <a:srgbClr val="000000"/>
                </a:solidFill>
                <a:latin typeface="Calibri"/>
                <a:ea typeface="Calibri"/>
              </a:rPr>
              <a:t>&lt;number&gt;</a:t>
            </a:fld>
            <a:r>
              <a:rPr b="0" lang="en" sz="800" spc="-1" strike="noStrike">
                <a:solidFill>
                  <a:srgbClr val="000000"/>
                </a:solidFill>
                <a:latin typeface="Calibri"/>
                <a:ea typeface="Calibri"/>
              </a:rPr>
              <a:t>-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52" name="CustomShape 4"/>
          <p:cNvSpPr/>
          <p:nvPr/>
        </p:nvSpPr>
        <p:spPr>
          <a:xfrm>
            <a:off x="444600" y="176400"/>
            <a:ext cx="1156680" cy="81360"/>
          </a:xfrm>
          <a:prstGeom prst="rect">
            <a:avLst/>
          </a:prstGeom>
          <a:solidFill>
            <a:srgbClr val="003761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53" name="Google Shape;81;p18" descr=""/>
          <p:cNvPicPr/>
          <p:nvPr/>
        </p:nvPicPr>
        <p:blipFill>
          <a:blip r:embed="rId3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>
            <a:noFill/>
          </a:ln>
        </p:spPr>
      </p:pic>
      <p:sp>
        <p:nvSpPr>
          <p:cNvPr id="54" name="PlaceHolder 5"/>
          <p:cNvSpPr>
            <a:spLocks noGrp="1"/>
          </p:cNvSpPr>
          <p:nvPr>
            <p:ph type="title"/>
          </p:nvPr>
        </p:nvSpPr>
        <p:spPr>
          <a:xfrm>
            <a:off x="725040" y="4002480"/>
            <a:ext cx="7886520" cy="335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CustomShape 6"/>
          <p:cNvSpPr/>
          <p:nvPr/>
        </p:nvSpPr>
        <p:spPr>
          <a:xfrm rot="5400000">
            <a:off x="-4680" y="4129560"/>
            <a:ext cx="1156680" cy="81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CustomShape 7"/>
          <p:cNvSpPr/>
          <p:nvPr/>
        </p:nvSpPr>
        <p:spPr>
          <a:xfrm>
            <a:off x="7825680" y="4857840"/>
            <a:ext cx="1028160" cy="195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pc="-1" strike="noStrike">
                <a:solidFill>
                  <a:srgbClr val="ffffff"/>
                </a:solidFill>
                <a:latin typeface="Calibri"/>
                <a:ea typeface="Calibri"/>
              </a:rPr>
              <a:t>www.vvdntech.com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57" name="CustomShape 8"/>
          <p:cNvSpPr/>
          <p:nvPr/>
        </p:nvSpPr>
        <p:spPr>
          <a:xfrm>
            <a:off x="4477680" y="4868640"/>
            <a:ext cx="474840" cy="230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pc="-1" strike="noStrike">
                <a:solidFill>
                  <a:srgbClr val="ffffff"/>
                </a:solidFill>
                <a:latin typeface="Calibri"/>
                <a:ea typeface="Calibri"/>
              </a:rPr>
              <a:t>-</a:t>
            </a:r>
            <a:fld id="{220D33CC-F3F7-42EB-89C3-83068BBDA940}" type="slidenum">
              <a:rPr b="0" lang="en" sz="800" spc="-1" strike="noStrike">
                <a:solidFill>
                  <a:srgbClr val="ffffff"/>
                </a:solidFill>
                <a:latin typeface="Calibri"/>
                <a:ea typeface="Calibri"/>
              </a:rPr>
              <a:t>&lt;number&gt;</a:t>
            </a:fld>
            <a:r>
              <a:rPr b="0" lang="en" sz="800" spc="-1" strike="noStrike">
                <a:solidFill>
                  <a:srgbClr val="ffffff"/>
                </a:solidFill>
                <a:latin typeface="Calibri"/>
                <a:ea typeface="Calibri"/>
              </a:rPr>
              <a:t>-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58" name="CustomShape 9"/>
          <p:cNvSpPr/>
          <p:nvPr/>
        </p:nvSpPr>
        <p:spPr>
          <a:xfrm>
            <a:off x="395280" y="4828680"/>
            <a:ext cx="3068280" cy="190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pc="-1" strike="noStrike">
                <a:solidFill>
                  <a:srgbClr val="ffffff"/>
                </a:solidFill>
                <a:latin typeface="Calibri"/>
                <a:ea typeface="Calibri"/>
              </a:rPr>
              <a:t>©VVDN Technologies 2024 | Confidential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59" name="CustomShape 10"/>
          <p:cNvSpPr/>
          <p:nvPr/>
        </p:nvSpPr>
        <p:spPr>
          <a:xfrm>
            <a:off x="7825680" y="4857840"/>
            <a:ext cx="1028160" cy="195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pc="-1" strike="noStrike">
                <a:solidFill>
                  <a:srgbClr val="ffffff"/>
                </a:solidFill>
                <a:latin typeface="Calibri"/>
                <a:ea typeface="Calibri"/>
              </a:rPr>
              <a:t>www.vvdntech.com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60" name="CustomShape 11"/>
          <p:cNvSpPr/>
          <p:nvPr/>
        </p:nvSpPr>
        <p:spPr>
          <a:xfrm>
            <a:off x="4477680" y="4868640"/>
            <a:ext cx="474840" cy="230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pc="-1" strike="noStrike">
                <a:solidFill>
                  <a:srgbClr val="ffffff"/>
                </a:solidFill>
                <a:latin typeface="Calibri"/>
                <a:ea typeface="Calibri"/>
              </a:rPr>
              <a:t>-</a:t>
            </a:r>
            <a:fld id="{7C26C4D3-246D-46E8-9642-0CBE06EBA80B}" type="slidenum">
              <a:rPr b="0" lang="en" sz="800" spc="-1" strike="noStrike">
                <a:solidFill>
                  <a:srgbClr val="ffffff"/>
                </a:solidFill>
                <a:latin typeface="Calibri"/>
                <a:ea typeface="Calibri"/>
              </a:rPr>
              <a:t>&lt;number&gt;</a:t>
            </a:fld>
            <a:r>
              <a:rPr b="0" lang="en" sz="800" spc="-1" strike="noStrike">
                <a:solidFill>
                  <a:srgbClr val="ffffff"/>
                </a:solidFill>
                <a:latin typeface="Calibri"/>
                <a:ea typeface="Calibri"/>
              </a:rPr>
              <a:t>-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61" name="PlaceHolder 1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57;p14" descr=""/>
          <p:cNvPicPr/>
          <p:nvPr/>
        </p:nvPicPr>
        <p:blipFill>
          <a:blip r:embed="rId2"/>
          <a:stretch/>
        </p:blipFill>
        <p:spPr>
          <a:xfrm>
            <a:off x="720" y="0"/>
            <a:ext cx="9141840" cy="5143320"/>
          </a:xfrm>
          <a:prstGeom prst="rect">
            <a:avLst/>
          </a:prstGeom>
          <a:ln>
            <a:noFill/>
          </a:ln>
        </p:spPr>
      </p:pic>
      <p:sp>
        <p:nvSpPr>
          <p:cNvPr id="99" name="CustomShape 1"/>
          <p:cNvSpPr/>
          <p:nvPr/>
        </p:nvSpPr>
        <p:spPr>
          <a:xfrm>
            <a:off x="343080" y="4857840"/>
            <a:ext cx="3068280" cy="190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pc="-1" strike="noStrike">
                <a:solidFill>
                  <a:srgbClr val="000000"/>
                </a:solidFill>
                <a:latin typeface="Calibri"/>
                <a:ea typeface="Calibri"/>
              </a:rPr>
              <a:t>©VVDN Technologies 2024 | Confidential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00" name="CustomShape 2"/>
          <p:cNvSpPr/>
          <p:nvPr/>
        </p:nvSpPr>
        <p:spPr>
          <a:xfrm>
            <a:off x="7825680" y="4857840"/>
            <a:ext cx="1028160" cy="195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pc="-1" strike="noStrike">
                <a:solidFill>
                  <a:srgbClr val="000000"/>
                </a:solidFill>
                <a:latin typeface="Calibri"/>
                <a:ea typeface="Calibri"/>
              </a:rPr>
              <a:t>www.vvdntech.com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01" name="CustomShape 3"/>
          <p:cNvSpPr/>
          <p:nvPr/>
        </p:nvSpPr>
        <p:spPr>
          <a:xfrm>
            <a:off x="4477680" y="4868640"/>
            <a:ext cx="474840" cy="230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pc="-1" strike="noStrike">
                <a:solidFill>
                  <a:srgbClr val="000000"/>
                </a:solidFill>
                <a:latin typeface="Calibri"/>
                <a:ea typeface="Calibri"/>
              </a:rPr>
              <a:t>-</a:t>
            </a:r>
            <a:fld id="{CCC3BA65-44E2-49AC-A2EA-AC0B0D139F6E}" type="slidenum">
              <a:rPr b="0" lang="en" sz="800" spc="-1" strike="noStrike">
                <a:solidFill>
                  <a:srgbClr val="000000"/>
                </a:solidFill>
                <a:latin typeface="Calibri"/>
                <a:ea typeface="Calibri"/>
              </a:rPr>
              <a:t>&lt;number&gt;</a:t>
            </a:fld>
            <a:r>
              <a:rPr b="0" lang="en" sz="800" spc="-1" strike="noStrike">
                <a:solidFill>
                  <a:srgbClr val="000000"/>
                </a:solidFill>
                <a:latin typeface="Calibri"/>
                <a:ea typeface="Calibri"/>
              </a:rPr>
              <a:t>-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02" name="CustomShape 4"/>
          <p:cNvSpPr/>
          <p:nvPr/>
        </p:nvSpPr>
        <p:spPr>
          <a:xfrm>
            <a:off x="444600" y="176400"/>
            <a:ext cx="1156680" cy="81360"/>
          </a:xfrm>
          <a:prstGeom prst="rect">
            <a:avLst/>
          </a:prstGeom>
          <a:solidFill>
            <a:srgbClr val="003761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PlaceHolder 5"/>
          <p:cNvSpPr>
            <a:spLocks noGrp="1"/>
          </p:cNvSpPr>
          <p:nvPr>
            <p:ph type="sldNum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</p:spPr>
        <p:txBody>
          <a:bodyPr lIns="68400" rIns="68400" tIns="34200" bIns="342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0DE9482C-4B70-49CF-85A7-976DF346701C}" type="slidenum">
              <a:rPr b="0" lang="en" sz="1400" spc="-1" strike="noStrike">
                <a:solidFill>
                  <a:srgbClr val="000000"/>
                </a:solidFill>
                <a:latin typeface="Calibri"/>
                <a:ea typeface="Calibri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104" name="PlaceHolder 6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7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8" descr=""/>
          <p:cNvPicPr/>
          <p:nvPr/>
        </p:nvPicPr>
        <p:blipFill>
          <a:blip r:embed="rId2"/>
          <a:stretch/>
        </p:blipFill>
        <p:spPr>
          <a:xfrm>
            <a:off x="720" y="0"/>
            <a:ext cx="9141840" cy="5143320"/>
          </a:xfrm>
          <a:prstGeom prst="rect">
            <a:avLst/>
          </a:prstGeom>
          <a:ln>
            <a:noFill/>
          </a:ln>
        </p:spPr>
      </p:pic>
      <p:sp>
        <p:nvSpPr>
          <p:cNvPr id="143" name="CustomShape 1"/>
          <p:cNvSpPr/>
          <p:nvPr/>
        </p:nvSpPr>
        <p:spPr>
          <a:xfrm>
            <a:off x="343080" y="4857840"/>
            <a:ext cx="3068280" cy="190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pc="-1" strike="noStrike">
                <a:solidFill>
                  <a:srgbClr val="000000"/>
                </a:solidFill>
                <a:latin typeface="Calibri"/>
                <a:ea typeface="Calibri"/>
              </a:rPr>
              <a:t>©VVDN Technologies 2020 | Confidential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44" name="CustomShape 2"/>
          <p:cNvSpPr/>
          <p:nvPr/>
        </p:nvSpPr>
        <p:spPr>
          <a:xfrm>
            <a:off x="7825680" y="4857840"/>
            <a:ext cx="1028160" cy="184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pc="-1" strike="noStrike">
                <a:solidFill>
                  <a:srgbClr val="000000"/>
                </a:solidFill>
                <a:latin typeface="Calibri"/>
                <a:ea typeface="Calibri"/>
              </a:rPr>
              <a:t>www.vvdntech.com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45" name="CustomShape 3"/>
          <p:cNvSpPr/>
          <p:nvPr/>
        </p:nvSpPr>
        <p:spPr>
          <a:xfrm>
            <a:off x="4477680" y="4868640"/>
            <a:ext cx="475200" cy="230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pc="-1" strike="noStrike">
                <a:solidFill>
                  <a:srgbClr val="000000"/>
                </a:solidFill>
                <a:latin typeface="Calibri"/>
                <a:ea typeface="Calibri"/>
              </a:rPr>
              <a:t>-</a:t>
            </a:r>
            <a:fld id="{9E7D356E-45E9-4210-9B0C-5A57B0C37604}" type="slidenum">
              <a:rPr b="0" lang="en" sz="800" spc="-1" strike="noStrike">
                <a:solidFill>
                  <a:srgbClr val="000000"/>
                </a:solidFill>
                <a:latin typeface="Calibri"/>
                <a:ea typeface="Calibri"/>
              </a:rPr>
              <a:t>&lt;number&gt;</a:t>
            </a:fld>
            <a:r>
              <a:rPr b="0" lang="en" sz="800" spc="-1" strike="noStrike">
                <a:solidFill>
                  <a:srgbClr val="000000"/>
                </a:solidFill>
                <a:latin typeface="Calibri"/>
                <a:ea typeface="Calibri"/>
              </a:rPr>
              <a:t>-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46" name="CustomShape 4"/>
          <p:cNvSpPr/>
          <p:nvPr/>
        </p:nvSpPr>
        <p:spPr>
          <a:xfrm>
            <a:off x="444600" y="176400"/>
            <a:ext cx="1156680" cy="81720"/>
          </a:xfrm>
          <a:prstGeom prst="rect">
            <a:avLst/>
          </a:prstGeom>
          <a:solidFill>
            <a:srgbClr val="003761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CustomShape 5"/>
          <p:cNvSpPr/>
          <p:nvPr/>
        </p:nvSpPr>
        <p:spPr>
          <a:xfrm>
            <a:off x="0" y="4332600"/>
            <a:ext cx="9022680" cy="38448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0b1ff"/>
              </a:gs>
              <a:gs pos="100000">
                <a:srgbClr val="1957e0"/>
              </a:gs>
            </a:gsLst>
            <a:lin ang="10800000"/>
          </a:gradFill>
          <a:ln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48" name="Group 6"/>
          <p:cNvGrpSpPr/>
          <p:nvPr/>
        </p:nvGrpSpPr>
        <p:grpSpPr>
          <a:xfrm>
            <a:off x="1794240" y="2316600"/>
            <a:ext cx="5554800" cy="1109520"/>
            <a:chOff x="1794240" y="2316600"/>
            <a:chExt cx="5554800" cy="1109520"/>
          </a:xfrm>
        </p:grpSpPr>
        <p:sp>
          <p:nvSpPr>
            <p:cNvPr id="149" name="CustomShape 7"/>
            <p:cNvSpPr/>
            <p:nvPr/>
          </p:nvSpPr>
          <p:spPr>
            <a:xfrm>
              <a:off x="2200320" y="2316600"/>
              <a:ext cx="4743000" cy="834480"/>
            </a:xfrm>
            <a:prstGeom prst="roundRect">
              <a:avLst>
                <a:gd name="adj" fmla="val 19744"/>
              </a:avLst>
            </a:prstGeom>
            <a:solidFill>
              <a:srgbClr val="ffffff"/>
            </a:solidFill>
            <a:ln>
              <a:noFill/>
            </a:ln>
            <a:effectLst>
              <a:outerShdw dist="12600" dir="0">
                <a:srgbClr val="888888">
                  <a:alpha val="4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</p:sp>
        <p:sp>
          <p:nvSpPr>
            <p:cNvPr id="150" name="CustomShape 8"/>
            <p:cNvSpPr/>
            <p:nvPr/>
          </p:nvSpPr>
          <p:spPr>
            <a:xfrm>
              <a:off x="2361600" y="2430360"/>
              <a:ext cx="4358520" cy="43812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>
              <a:noAutofit/>
            </a:bodyPr>
            <a:p>
              <a:pPr algn="ctr">
                <a:lnSpc>
                  <a:spcPct val="125000"/>
                </a:lnSpc>
                <a:tabLst>
                  <a:tab algn="l" pos="0"/>
                </a:tabLst>
              </a:pPr>
              <a:r>
                <a:rPr b="0" lang="en" sz="1200" spc="-1" strike="noStrike">
                  <a:solidFill>
                    <a:srgbClr val="004376"/>
                  </a:solidFill>
                  <a:latin typeface="Montserrat ExtraBold"/>
                  <a:ea typeface="Montserrat ExtraBold"/>
                </a:rPr>
                <a:t>CREATE. INNOVATE. PRODUCE</a:t>
              </a:r>
              <a:endParaRPr b="0" lang="en-IN" sz="1200" spc="-1" strike="noStrike">
                <a:latin typeface="Arial"/>
              </a:endParaRPr>
            </a:p>
            <a:p>
              <a:pPr algn="ctr">
                <a:lnSpc>
                  <a:spcPct val="125000"/>
                </a:lnSpc>
                <a:tabLst>
                  <a:tab algn="l" pos="0"/>
                </a:tabLst>
              </a:pPr>
              <a:r>
                <a:rPr b="0" lang="en" sz="1200" spc="-1" strike="noStrike">
                  <a:solidFill>
                    <a:srgbClr val="004376"/>
                  </a:solidFill>
                  <a:latin typeface="Montserrat ExtraBold"/>
                  <a:ea typeface="Montserrat ExtraBold"/>
                </a:rPr>
                <a:t>#WEMAKEITHAPPEN</a:t>
              </a:r>
              <a:endParaRPr b="0" lang="en-IN" sz="1200" spc="-1" strike="noStrike">
                <a:latin typeface="Arial"/>
              </a:endParaRPr>
            </a:p>
          </p:txBody>
        </p:sp>
        <p:sp>
          <p:nvSpPr>
            <p:cNvPr id="151" name="CustomShape 9"/>
            <p:cNvSpPr/>
            <p:nvPr/>
          </p:nvSpPr>
          <p:spPr>
            <a:xfrm>
              <a:off x="1895400" y="2921400"/>
              <a:ext cx="5352840" cy="504720"/>
            </a:xfrm>
            <a:prstGeom prst="roundRect">
              <a:avLst>
                <a:gd name="adj" fmla="val 19744"/>
              </a:avLst>
            </a:prstGeom>
            <a:gradFill rotWithShape="0">
              <a:gsLst>
                <a:gs pos="0">
                  <a:srgbClr val="00b2ff"/>
                </a:gs>
                <a:gs pos="100000">
                  <a:srgbClr val="1957e0"/>
                </a:gs>
              </a:gsLst>
              <a:lin ang="10800000"/>
            </a:gradFill>
            <a:ln>
              <a:noFill/>
            </a:ln>
            <a:effectLst>
              <a:outerShdw dist="12600" dir="0">
                <a:srgbClr val="3f3f3f">
                  <a:alpha val="4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</p:sp>
        <p:sp>
          <p:nvSpPr>
            <p:cNvPr id="152" name="CustomShape 10"/>
            <p:cNvSpPr/>
            <p:nvPr/>
          </p:nvSpPr>
          <p:spPr>
            <a:xfrm>
              <a:off x="1794240" y="3043440"/>
              <a:ext cx="5554800" cy="25380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1" lang="en" sz="1200" spc="-1" strike="noStrike">
                  <a:solidFill>
                    <a:srgbClr val="ffffff"/>
                  </a:solidFill>
                  <a:latin typeface="Montserrat ExtraBold"/>
                  <a:ea typeface="Montserrat ExtraBold"/>
                </a:rPr>
                <a:t>Premier Electronics Engineering &amp; Manufacturing Company</a:t>
              </a:r>
              <a:endParaRPr b="0" lang="en-IN" sz="1200" spc="-1" strike="noStrike">
                <a:latin typeface="Arial"/>
              </a:endParaRPr>
            </a:p>
          </p:txBody>
        </p:sp>
      </p:grpSp>
      <p:pic>
        <p:nvPicPr>
          <p:cNvPr id="153" name="Google Shape;182;p34" descr=""/>
          <p:cNvPicPr/>
          <p:nvPr/>
        </p:nvPicPr>
        <p:blipFill>
          <a:blip r:embed="rId3"/>
          <a:stretch/>
        </p:blipFill>
        <p:spPr>
          <a:xfrm>
            <a:off x="399960" y="4479480"/>
            <a:ext cx="125280" cy="124920"/>
          </a:xfrm>
          <a:prstGeom prst="rect">
            <a:avLst/>
          </a:prstGeom>
          <a:ln>
            <a:noFill/>
          </a:ln>
        </p:spPr>
      </p:pic>
      <p:sp>
        <p:nvSpPr>
          <p:cNvPr id="154" name="CustomShape 11"/>
          <p:cNvSpPr/>
          <p:nvPr/>
        </p:nvSpPr>
        <p:spPr>
          <a:xfrm>
            <a:off x="484560" y="4424040"/>
            <a:ext cx="1372680" cy="402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100" spc="-1" strike="noStrike">
                <a:solidFill>
                  <a:srgbClr val="ffffff"/>
                </a:solidFill>
                <a:latin typeface="Lato"/>
                <a:ea typeface="Lato"/>
              </a:rPr>
              <a:t>/</a:t>
            </a:r>
            <a:r>
              <a:rPr b="0" lang="en" sz="1100" spc="-1" strike="noStrike">
                <a:solidFill>
                  <a:srgbClr val="ffffff"/>
                </a:solidFill>
                <a:latin typeface="Calibri"/>
                <a:ea typeface="Calibri"/>
              </a:rPr>
              <a:t>vvdn-technologies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55" name="CustomShape 12"/>
          <p:cNvSpPr/>
          <p:nvPr/>
        </p:nvSpPr>
        <p:spPr>
          <a:xfrm>
            <a:off x="2286360" y="4419000"/>
            <a:ext cx="1337760" cy="402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100" spc="-1" strike="noStrike">
                <a:solidFill>
                  <a:srgbClr val="ffffff"/>
                </a:solidFill>
                <a:latin typeface="Lato"/>
                <a:ea typeface="Lato"/>
              </a:rPr>
              <a:t>/</a:t>
            </a:r>
            <a:r>
              <a:rPr b="0" lang="en" sz="1100" spc="-1" strike="noStrike">
                <a:solidFill>
                  <a:srgbClr val="ffffff"/>
                </a:solidFill>
                <a:latin typeface="Calibri"/>
                <a:ea typeface="Calibri"/>
              </a:rPr>
              <a:t>vvdn-technologies</a:t>
            </a:r>
            <a:endParaRPr b="0" lang="en-IN" sz="1100" spc="-1" strike="noStrike">
              <a:latin typeface="Arial"/>
            </a:endParaRPr>
          </a:p>
        </p:txBody>
      </p:sp>
      <p:pic>
        <p:nvPicPr>
          <p:cNvPr id="156" name="Google Shape;185;p34" descr=""/>
          <p:cNvPicPr/>
          <p:nvPr/>
        </p:nvPicPr>
        <p:blipFill>
          <a:blip r:embed="rId4"/>
          <a:stretch/>
        </p:blipFill>
        <p:spPr>
          <a:xfrm>
            <a:off x="2077920" y="4443840"/>
            <a:ext cx="244080" cy="167760"/>
          </a:xfrm>
          <a:prstGeom prst="rect">
            <a:avLst/>
          </a:prstGeom>
          <a:ln>
            <a:noFill/>
          </a:ln>
        </p:spPr>
      </p:pic>
      <p:pic>
        <p:nvPicPr>
          <p:cNvPr id="157" name="Google Shape;186;p34" descr=""/>
          <p:cNvPicPr/>
          <p:nvPr/>
        </p:nvPicPr>
        <p:blipFill>
          <a:blip r:embed="rId5"/>
          <a:stretch/>
        </p:blipFill>
        <p:spPr>
          <a:xfrm>
            <a:off x="5587920" y="4462920"/>
            <a:ext cx="65160" cy="120600"/>
          </a:xfrm>
          <a:prstGeom prst="rect">
            <a:avLst/>
          </a:prstGeom>
          <a:ln>
            <a:noFill/>
          </a:ln>
        </p:spPr>
      </p:pic>
      <p:sp>
        <p:nvSpPr>
          <p:cNvPr id="158" name="CustomShape 13"/>
          <p:cNvSpPr/>
          <p:nvPr/>
        </p:nvSpPr>
        <p:spPr>
          <a:xfrm>
            <a:off x="5620320" y="4414320"/>
            <a:ext cx="1320840" cy="402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100" spc="-1" strike="noStrike">
                <a:solidFill>
                  <a:srgbClr val="ffffff"/>
                </a:solidFill>
                <a:latin typeface="Lato"/>
                <a:ea typeface="Lato"/>
              </a:rPr>
              <a:t>/</a:t>
            </a:r>
            <a:r>
              <a:rPr b="0" lang="en" sz="1100" spc="-1" strike="noStrike">
                <a:solidFill>
                  <a:srgbClr val="ffffff"/>
                </a:solidFill>
                <a:latin typeface="Calibri"/>
                <a:ea typeface="Calibri"/>
              </a:rPr>
              <a:t>vvdn-technologies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59" name="CustomShape 14"/>
          <p:cNvSpPr/>
          <p:nvPr/>
        </p:nvSpPr>
        <p:spPr>
          <a:xfrm>
            <a:off x="7343640" y="4402800"/>
            <a:ext cx="1429920" cy="402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100" spc="-1" strike="noStrike">
                <a:solidFill>
                  <a:srgbClr val="ffffff"/>
                </a:solidFill>
                <a:latin typeface="Lato"/>
                <a:ea typeface="Lato"/>
              </a:rPr>
              <a:t>/</a:t>
            </a:r>
            <a:r>
              <a:rPr b="0" lang="en" sz="1100" spc="-1" strike="noStrike">
                <a:solidFill>
                  <a:srgbClr val="ffffff"/>
                </a:solidFill>
                <a:latin typeface="Calibri"/>
                <a:ea typeface="Calibri"/>
              </a:rPr>
              <a:t>vvdn-technologies</a:t>
            </a:r>
            <a:endParaRPr b="0" lang="en-IN" sz="1100" spc="-1" strike="noStrike">
              <a:latin typeface="Arial"/>
            </a:endParaRPr>
          </a:p>
        </p:txBody>
      </p:sp>
      <p:pic>
        <p:nvPicPr>
          <p:cNvPr id="160" name="Google Shape;189;p34" descr=""/>
          <p:cNvPicPr/>
          <p:nvPr/>
        </p:nvPicPr>
        <p:blipFill>
          <a:blip r:embed="rId6"/>
          <a:stretch/>
        </p:blipFill>
        <p:spPr>
          <a:xfrm>
            <a:off x="7203960" y="4457160"/>
            <a:ext cx="171360" cy="141120"/>
          </a:xfrm>
          <a:prstGeom prst="rect">
            <a:avLst/>
          </a:prstGeom>
          <a:ln>
            <a:noFill/>
          </a:ln>
        </p:spPr>
      </p:pic>
      <p:sp>
        <p:nvSpPr>
          <p:cNvPr id="161" name="CustomShape 15"/>
          <p:cNvSpPr/>
          <p:nvPr/>
        </p:nvSpPr>
        <p:spPr>
          <a:xfrm>
            <a:off x="3928680" y="4422240"/>
            <a:ext cx="1419840" cy="402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" sz="1100" spc="-1" strike="noStrike">
                <a:solidFill>
                  <a:srgbClr val="ffffff"/>
                </a:solidFill>
                <a:latin typeface="Calibri"/>
                <a:ea typeface="Calibri"/>
              </a:rPr>
              <a:t>www.vvdntech.com</a:t>
            </a:r>
            <a:endParaRPr b="0" lang="en-IN" sz="1100" spc="-1" strike="noStrike">
              <a:latin typeface="Arial"/>
            </a:endParaRPr>
          </a:p>
        </p:txBody>
      </p:sp>
      <p:pic>
        <p:nvPicPr>
          <p:cNvPr id="162" name="Google Shape;191;p34" descr=""/>
          <p:cNvPicPr/>
          <p:nvPr/>
        </p:nvPicPr>
        <p:blipFill>
          <a:blip r:embed="rId7"/>
          <a:stretch/>
        </p:blipFill>
        <p:spPr>
          <a:xfrm>
            <a:off x="3843720" y="4451760"/>
            <a:ext cx="193320" cy="193320"/>
          </a:xfrm>
          <a:prstGeom prst="rect">
            <a:avLst/>
          </a:prstGeom>
          <a:ln>
            <a:noFill/>
          </a:ln>
        </p:spPr>
      </p:pic>
      <p:pic>
        <p:nvPicPr>
          <p:cNvPr id="163" name="Google Shape;192;p34" descr=""/>
          <p:cNvPicPr/>
          <p:nvPr/>
        </p:nvPicPr>
        <p:blipFill>
          <a:blip r:embed="rId8"/>
          <a:stretch/>
        </p:blipFill>
        <p:spPr>
          <a:xfrm>
            <a:off x="2650680" y="632520"/>
            <a:ext cx="3842640" cy="1335600"/>
          </a:xfrm>
          <a:prstGeom prst="rect">
            <a:avLst/>
          </a:prstGeom>
          <a:ln>
            <a:noFill/>
          </a:ln>
        </p:spPr>
      </p:pic>
      <p:sp>
        <p:nvSpPr>
          <p:cNvPr id="164" name="CustomShape 16"/>
          <p:cNvSpPr/>
          <p:nvPr/>
        </p:nvSpPr>
        <p:spPr>
          <a:xfrm>
            <a:off x="364320" y="101520"/>
            <a:ext cx="1429920" cy="253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5" name="PlaceHolder 17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18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  <p:sldLayoutId id="2147483697" r:id="rId18"/>
    <p:sldLayoutId id="2147483698" r:id="rId19"/>
    <p:sldLayoutId id="2147483699" r:id="rId20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IN" sz="3409" spc="-1" strike="noStrike">
                <a:latin typeface="Arial"/>
              </a:rPr>
              <a:t>Click to edit the title text format</a:t>
            </a:r>
            <a:endParaRPr b="0" lang="en-IN" sz="3409" spc="-1" strike="noStrike">
              <a:latin typeface="Arial"/>
            </a:endParaRPr>
          </a:p>
        </p:txBody>
      </p:sp>
      <p:sp>
        <p:nvSpPr>
          <p:cNvPr id="204" name="TextShape 2"/>
          <p:cNvSpPr txBox="1"/>
          <p:nvPr/>
        </p:nvSpPr>
        <p:spPr>
          <a:xfrm>
            <a:off x="457200" y="1203120"/>
            <a:ext cx="8229240" cy="2982960"/>
          </a:xfrm>
          <a:prstGeom prst="rect">
            <a:avLst/>
          </a:prstGeom>
          <a:noFill/>
          <a:ln>
            <a:noFill/>
          </a:ln>
        </p:spPr>
      </p:sp>
      <p:sp>
        <p:nvSpPr>
          <p:cNvPr id="205" name="PlaceHolder 3"/>
          <p:cNvSpPr>
            <a:spLocks noGrp="1"/>
          </p:cNvSpPr>
          <p:nvPr>
            <p:ph type="dt"/>
          </p:nvPr>
        </p:nvSpPr>
        <p:spPr>
          <a:xfrm>
            <a:off x="457200" y="4685760"/>
            <a:ext cx="2130120" cy="3542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206" name="PlaceHolder 4"/>
          <p:cNvSpPr>
            <a:spLocks noGrp="1"/>
          </p:cNvSpPr>
          <p:nvPr>
            <p:ph type="ftr"/>
          </p:nvPr>
        </p:nvSpPr>
        <p:spPr>
          <a:xfrm>
            <a:off x="3126960" y="4685760"/>
            <a:ext cx="2898360" cy="3542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ctr"/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207" name="PlaceHolder 5"/>
          <p:cNvSpPr>
            <a:spLocks noGrp="1"/>
          </p:cNvSpPr>
          <p:nvPr>
            <p:ph type="sldNum"/>
          </p:nvPr>
        </p:nvSpPr>
        <p:spPr>
          <a:xfrm>
            <a:off x="6555960" y="4685760"/>
            <a:ext cx="2130120" cy="3542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fld id="{5B6F75F5-D7DA-41DE-B69F-9509F8D79AB7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package" Target="../embeddings/oleObject1.docx"/><Relationship Id="rId2" Type="http://schemas.openxmlformats.org/officeDocument/2006/relationships/image" Target="../media/image1.emf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package" Target="../embeddings/oleObject1.docx"/><Relationship Id="rId2" Type="http://schemas.openxmlformats.org/officeDocument/2006/relationships/image" Target="../media/image1.emf"/><Relationship Id="rId3" Type="http://schemas.openxmlformats.org/officeDocument/2006/relationships/slideLayout" Target="../slideLayouts/slideLayout2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package" Target="../embeddings/oleObject1.docx"/><Relationship Id="rId2" Type="http://schemas.openxmlformats.org/officeDocument/2006/relationships/image" Target="../media/image1.emf"/><Relationship Id="rId3" Type="http://schemas.openxmlformats.org/officeDocument/2006/relationships/slideLayout" Target="../slideLayouts/slideLayout2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TextShape 1"/>
          <p:cNvSpPr txBox="1"/>
          <p:nvPr/>
        </p:nvSpPr>
        <p:spPr>
          <a:xfrm>
            <a:off x="5560920" y="3695040"/>
            <a:ext cx="1779480" cy="228600"/>
          </a:xfrm>
          <a:prstGeom prst="rect">
            <a:avLst/>
          </a:prstGeom>
          <a:noFill/>
          <a:ln w="9360">
            <a:solidFill>
              <a:srgbClr val="00509d"/>
            </a:solidFill>
            <a:round/>
          </a:ln>
        </p:spPr>
        <p:txBody>
          <a:bodyPr lIns="68400" rIns="68400" tIns="34200" bIns="34200">
            <a:norm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en" sz="800" spc="-1" strike="noStrike">
                <a:solidFill>
                  <a:srgbClr val="ffffff"/>
                </a:solidFill>
                <a:latin typeface="Calibri"/>
                <a:ea typeface="Calibri"/>
              </a:rPr>
              <a:t>FEB-2025</a:t>
            </a:r>
            <a:endParaRPr b="0" lang="en-IN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Shape 2"/>
          <p:cNvSpPr txBox="1"/>
          <p:nvPr/>
        </p:nvSpPr>
        <p:spPr>
          <a:xfrm>
            <a:off x="3357360" y="2432520"/>
            <a:ext cx="5786280" cy="708120"/>
          </a:xfrm>
          <a:prstGeom prst="rect">
            <a:avLst/>
          </a:prstGeom>
          <a:noFill/>
          <a:ln>
            <a:noFill/>
          </a:ln>
        </p:spPr>
        <p:txBody>
          <a:bodyPr lIns="68400" rIns="68400" tIns="34200" bIns="34200">
            <a:noAutofit/>
          </a:bodyPr>
          <a:p>
            <a:pPr algn="ctr">
              <a:lnSpc>
                <a:spcPct val="90000"/>
              </a:lnSpc>
              <a:tabLst>
                <a:tab algn="l" pos="0"/>
              </a:tabLst>
            </a:pPr>
            <a:br/>
            <a:r>
              <a:rPr b="0" lang="en" sz="1600" spc="-1" strike="noStrike">
                <a:solidFill>
                  <a:srgbClr val="ffffff"/>
                </a:solidFill>
                <a:latin typeface="Montserrat Black"/>
                <a:ea typeface="Montserrat Black"/>
              </a:rPr>
              <a:t> </a:t>
            </a:r>
            <a:r>
              <a:rPr b="0" lang="en" sz="1600" spc="-1" strike="noStrike">
                <a:solidFill>
                  <a:srgbClr val="ffffff"/>
                </a:solidFill>
                <a:latin typeface="Montserrat Black"/>
                <a:ea typeface="Montserrat Black"/>
              </a:rPr>
              <a:t>VVDN DEVOPS CI&amp;CD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TextShape 1"/>
          <p:cNvSpPr txBox="1"/>
          <p:nvPr/>
        </p:nvSpPr>
        <p:spPr>
          <a:xfrm>
            <a:off x="543960" y="3134160"/>
            <a:ext cx="5914800" cy="1162080"/>
          </a:xfrm>
          <a:prstGeom prst="rect">
            <a:avLst/>
          </a:prstGeom>
          <a:noFill/>
          <a:ln>
            <a:noFill/>
          </a:ln>
        </p:spPr>
        <p:txBody>
          <a:bodyPr lIns="68400" rIns="68400" tIns="34200" bIns="34200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br/>
            <a:br/>
            <a:br/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TextShape 2"/>
          <p:cNvSpPr txBox="1"/>
          <p:nvPr/>
        </p:nvSpPr>
        <p:spPr>
          <a:xfrm>
            <a:off x="543960" y="3584880"/>
            <a:ext cx="4062240" cy="14122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1" lang="en-IN" sz="1600" spc="-1" strike="noStrike">
                <a:latin typeface="Arial"/>
              </a:rPr>
              <a:t>Welcome Team DevOps </a:t>
            </a:r>
            <a:br/>
            <a:br/>
            <a:r>
              <a:rPr b="1" lang="en-IN" sz="1600" spc="-1" strike="noStrike">
                <a:latin typeface="Arial"/>
              </a:rPr>
              <a:t>              presented BY </a:t>
            </a:r>
            <a:br/>
            <a:r>
              <a:rPr b="1" lang="en-IN" sz="1600" spc="-1" strike="noStrike">
                <a:latin typeface="Arial"/>
              </a:rPr>
              <a:t>                                      kavin </a:t>
            </a:r>
            <a:endParaRPr b="0" lang="en-IN" sz="1600" spc="-1" strike="noStrike">
              <a:latin typeface="Arial"/>
            </a:endParaRPr>
          </a:p>
          <a:p>
            <a:endParaRPr b="0" lang="en-IN" sz="1600" spc="-1" strike="noStrike">
              <a:latin typeface="Arial"/>
            </a:endParaRPr>
          </a:p>
        </p:txBody>
      </p:sp>
      <p:pic>
        <p:nvPicPr>
          <p:cNvPr id="254" name="" descr=""/>
          <p:cNvPicPr/>
          <p:nvPr/>
        </p:nvPicPr>
        <p:blipFill>
          <a:blip r:embed="rId1"/>
          <a:stretch/>
        </p:blipFill>
        <p:spPr>
          <a:xfrm>
            <a:off x="504000" y="648000"/>
            <a:ext cx="8208000" cy="41040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CustomShape 1"/>
          <p:cNvSpPr/>
          <p:nvPr/>
        </p:nvSpPr>
        <p:spPr>
          <a:xfrm>
            <a:off x="252720" y="299520"/>
            <a:ext cx="8375040" cy="550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spAutoFit/>
          </a:bodyPr>
          <a:p>
            <a:pPr>
              <a:lnSpc>
                <a:spcPct val="115000"/>
              </a:lnSpc>
              <a:spcAft>
                <a:spcPts val="1500"/>
              </a:spcAft>
              <a:tabLst>
                <a:tab algn="l" pos="0"/>
              </a:tabLst>
            </a:pPr>
            <a:r>
              <a:rPr b="1" lang="en" sz="2100" spc="-1" strike="noStrike">
                <a:solidFill>
                  <a:srgbClr val="003761"/>
                </a:solidFill>
                <a:latin typeface="Times New Roman"/>
                <a:ea typeface="Times New Roman"/>
              </a:rPr>
              <a:t>INTRODUCTION OF DEVOPS</a:t>
            </a:r>
            <a:endParaRPr b="0" lang="en-IN" sz="2100" spc="-1" strike="noStrike">
              <a:latin typeface="Arial"/>
            </a:endParaRPr>
          </a:p>
        </p:txBody>
      </p:sp>
      <p:sp>
        <p:nvSpPr>
          <p:cNvPr id="256" name="CustomShape 2"/>
          <p:cNvSpPr/>
          <p:nvPr/>
        </p:nvSpPr>
        <p:spPr>
          <a:xfrm>
            <a:off x="144000" y="831240"/>
            <a:ext cx="9144000" cy="4807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br/>
            <a:r>
              <a:rPr b="0" lang="e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0" lang="e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1.Definition of DevOps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0" lang="e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2.Why DevOps?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0" lang="e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3.Difference between DevOps &amp; Traditional IT</a:t>
            </a:r>
            <a:br/>
            <a:r>
              <a:rPr b="0" lang="e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br/>
            <a:br/>
            <a:br/>
            <a:r>
              <a:rPr b="1" lang="e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Devops Definition</a:t>
            </a:r>
            <a:r>
              <a:rPr b="0" lang="e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  <a:br/>
            <a:r>
              <a:rPr b="0" lang="e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DevOps is a combination of Development (</a:t>
            </a:r>
            <a:r>
              <a:rPr b="1" lang="e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Dev</a:t>
            </a:r>
            <a:r>
              <a:rPr b="0" lang="e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) and Operations (</a:t>
            </a:r>
            <a:r>
              <a:rPr b="1" lang="e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Ops</a:t>
            </a:r>
            <a:r>
              <a:rPr b="0" lang="e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) that </a:t>
            </a:r>
            <a:br/>
            <a:r>
              <a:rPr b="0" lang="e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focuses on improving </a:t>
            </a:r>
            <a:r>
              <a:rPr b="1" lang="e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collaboration</a:t>
            </a:r>
            <a:r>
              <a:rPr b="0" lang="e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</a:t>
            </a:r>
            <a:r>
              <a:rPr b="1" lang="e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automation</a:t>
            </a:r>
            <a:r>
              <a:rPr b="0" lang="e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and </a:t>
            </a:r>
            <a:r>
              <a:rPr b="1" lang="e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continuous integration</a:t>
            </a:r>
            <a:r>
              <a:rPr b="0" lang="e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&amp; </a:t>
            </a:r>
            <a:r>
              <a:rPr b="1" lang="e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Deployment</a:t>
            </a:r>
            <a:r>
              <a:rPr b="0" lang="e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(CI/CD) </a:t>
            </a:r>
            <a:br/>
            <a:r>
              <a:rPr b="0" lang="e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in software development and IT operation.</a:t>
            </a:r>
            <a:br/>
            <a:br/>
            <a:br/>
            <a:br/>
            <a:br/>
            <a:br/>
            <a:endParaRPr b="0" lang="en-IN" sz="1600" spc="-1" strike="noStrike">
              <a:latin typeface="Arial"/>
            </a:endParaRPr>
          </a:p>
        </p:txBody>
      </p:sp>
      <p:pic>
        <p:nvPicPr>
          <p:cNvPr id="257" name="" descr=""/>
          <p:cNvPicPr/>
          <p:nvPr/>
        </p:nvPicPr>
        <p:blipFill>
          <a:blip r:embed="rId1"/>
          <a:stretch/>
        </p:blipFill>
        <p:spPr>
          <a:xfrm rot="15000">
            <a:off x="4594680" y="1068480"/>
            <a:ext cx="4248000" cy="21618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CustomShape 1"/>
          <p:cNvSpPr/>
          <p:nvPr/>
        </p:nvSpPr>
        <p:spPr>
          <a:xfrm>
            <a:off x="252720" y="299520"/>
            <a:ext cx="8375040" cy="10469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9" name="CustomShape 2"/>
          <p:cNvSpPr/>
          <p:nvPr/>
        </p:nvSpPr>
        <p:spPr>
          <a:xfrm>
            <a:off x="444960" y="630360"/>
            <a:ext cx="8483040" cy="669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br/>
            <a:endParaRPr b="0" lang="en-IN" sz="1400" spc="-1" strike="noStrike">
              <a:latin typeface="Arial"/>
            </a:endParaRPr>
          </a:p>
        </p:txBody>
      </p:sp>
      <p:graphicFrame>
        <p:nvGraphicFramePr>
          <p:cNvPr id="260" name="Object 3"/>
          <p:cNvGraphicFramePr/>
          <p:nvPr/>
        </p:nvGraphicFramePr>
        <p:xfrm>
          <a:off x="-345240" y="299520"/>
          <a:ext cx="6105240" cy="513360"/>
        </p:xfrm>
        <a:graphic>
          <a:graphicData uri="http://schemas.openxmlformats.org/presentationml/2006/ole">
            <p:oleObj progId="Word.Document.12" r:id="rId1" spid="">
              <p:embed/>
              <p:pic>
                <p:nvPicPr>
                  <p:cNvPr id="261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-345240" y="299520"/>
                    <a:ext cx="6105240" cy="513360"/>
                  </a:xfrm>
                  <a:prstGeom prst="rect">
                    <a:avLst/>
                  </a:prstGeom>
                  <a:ln>
                    <a:noFill/>
                  </a:ln>
                </p:spPr>
              </p:pic>
            </p:oleObj>
          </a:graphicData>
        </a:graphic>
      </p:graphicFrame>
      <p:sp>
        <p:nvSpPr>
          <p:cNvPr id="262" name="TextShape 4"/>
          <p:cNvSpPr txBox="1"/>
          <p:nvPr/>
        </p:nvSpPr>
        <p:spPr>
          <a:xfrm>
            <a:off x="-576000" y="720000"/>
            <a:ext cx="9504000" cy="4248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 lvl="2" marL="648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IN" sz="1600" spc="-1" strike="noStrike">
                <a:latin typeface="Arial"/>
                <a:ea typeface="Lohit Devanagari"/>
              </a:rPr>
              <a:t>Why Devops? </a:t>
            </a:r>
            <a:br/>
            <a:br/>
            <a:r>
              <a:rPr b="0" lang="en-IN" sz="1600" spc="-1" strike="noStrike">
                <a:latin typeface="Arial"/>
                <a:ea typeface="Lohit Devanagari"/>
              </a:rPr>
              <a:t>           Speeds up software delivery </a:t>
            </a:r>
            <a:br/>
            <a:br/>
            <a:r>
              <a:rPr b="0" lang="en-IN" sz="1600" spc="-1" strike="noStrike">
                <a:latin typeface="Arial"/>
                <a:ea typeface="Lohit Devanagari"/>
              </a:rPr>
              <a:t>           Improves collaboration between teams                                    </a:t>
            </a:r>
            <a:br/>
            <a:br/>
            <a:r>
              <a:rPr b="0" lang="en-IN" sz="1600" spc="-1" strike="noStrike">
                <a:latin typeface="Arial"/>
                <a:ea typeface="Lohit Devanagari"/>
              </a:rPr>
              <a:t>           Enhances automation &amp; reduces manual errors </a:t>
            </a:r>
            <a:br/>
            <a:br/>
            <a:r>
              <a:rPr b="0" lang="en-IN" sz="1600" spc="-1" strike="noStrike">
                <a:latin typeface="Arial"/>
                <a:ea typeface="Lohit Devanagari"/>
              </a:rPr>
              <a:t>           Ensures continuous integration &amp; deployment </a:t>
            </a:r>
            <a:br/>
            <a:br/>
            <a:r>
              <a:rPr b="0" lang="en-IN" sz="1600" spc="-1" strike="noStrike">
                <a:latin typeface="Arial"/>
                <a:ea typeface="Lohit Devanagari"/>
              </a:rPr>
              <a:t>          Strengthens security with DevsecOps   </a:t>
            </a:r>
            <a:br/>
            <a:r>
              <a:rPr b="0" lang="en-IN" sz="1600" spc="-1" strike="noStrike">
                <a:latin typeface="Arial"/>
                <a:ea typeface="Lohit Devanagari"/>
              </a:rPr>
              <a:t>           </a:t>
            </a:r>
            <a:br/>
            <a:r>
              <a:rPr b="0" lang="en-IN" sz="1600" spc="-1" strike="noStrike">
                <a:latin typeface="Arial"/>
                <a:ea typeface="Lohit Devanagari"/>
              </a:rPr>
              <a:t>         These tools automate manual tasks, </a:t>
            </a:r>
            <a:br/>
            <a:r>
              <a:rPr b="0" lang="en-IN" sz="1600" spc="-1" strike="noStrike">
                <a:latin typeface="Arial"/>
                <a:ea typeface="Lohit Devanagari"/>
              </a:rPr>
              <a:t>         help teams manage complex environments at scale</a:t>
            </a:r>
            <a:br/>
            <a:r>
              <a:rPr b="0" lang="en-IN" sz="1600" spc="-1" strike="noStrike">
                <a:latin typeface="Arial"/>
                <a:ea typeface="Lohit Devanagari"/>
              </a:rPr>
              <a:t>         and keep engineers in control of the high velocity that is </a:t>
            </a:r>
            <a:br/>
            <a:r>
              <a:rPr b="0" lang="en-IN" sz="1600" spc="-1" strike="noStrike">
                <a:latin typeface="Arial"/>
                <a:ea typeface="Lohit Devanagari"/>
              </a:rPr>
              <a:t>         enabled by DevOps.         </a:t>
            </a:r>
            <a:endParaRPr b="0" lang="en-IN" sz="1600" spc="-1" strike="noStrike">
              <a:latin typeface="Arial"/>
            </a:endParaRPr>
          </a:p>
        </p:txBody>
      </p:sp>
      <p:pic>
        <p:nvPicPr>
          <p:cNvPr id="263" name="" descr=""/>
          <p:cNvPicPr/>
          <p:nvPr/>
        </p:nvPicPr>
        <p:blipFill>
          <a:blip r:embed="rId3"/>
          <a:stretch/>
        </p:blipFill>
        <p:spPr>
          <a:xfrm>
            <a:off x="4896000" y="-391320"/>
            <a:ext cx="5143320" cy="514332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TextShape 1"/>
          <p:cNvSpPr txBox="1"/>
          <p:nvPr/>
        </p:nvSpPr>
        <p:spPr>
          <a:xfrm>
            <a:off x="144000" y="523080"/>
            <a:ext cx="8520840" cy="40849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1" lang="en-IN" sz="1800" spc="-1" strike="noStrike">
                <a:latin typeface="Times New Roman"/>
                <a:ea typeface="Noto Sans CJK SC"/>
              </a:rPr>
              <a:t> </a:t>
            </a:r>
            <a:br/>
            <a:r>
              <a:rPr b="1" lang="en" sz="1600" spc="-1" strike="noStrike">
                <a:solidFill>
                  <a:srgbClr val="ffbf00"/>
                </a:solidFill>
                <a:latin typeface="Times New Roman"/>
                <a:ea typeface="Times New Roman"/>
              </a:rPr>
              <a:t>Difference between DevOps &amp; Traditional IT</a:t>
            </a:r>
            <a:br/>
            <a:r>
              <a:rPr b="1" lang="e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br/>
            <a:r>
              <a:rPr b="1" lang="en-IN" sz="1800" spc="-1" strike="noStrike">
                <a:latin typeface="Times New Roman"/>
              </a:rPr>
              <a:t>Collaboration &amp; Communication</a:t>
            </a:r>
            <a:br/>
            <a:r>
              <a:rPr b="1" lang="en-IN" sz="1800" spc="-1" strike="noStrike">
                <a:latin typeface="Times New Roman"/>
              </a:rPr>
              <a:t>                             </a:t>
            </a:r>
            <a:r>
              <a:rPr b="0" lang="en-IN" sz="1800" spc="-1" strike="noStrike">
                <a:latin typeface="Times New Roman"/>
              </a:rPr>
              <a:t> DevOps : Integrated Dev &amp; Ops teams, continuous feedback.</a:t>
            </a:r>
            <a:endParaRPr b="0" lang="en-IN" sz="1800" spc="-1" strike="noStrike">
              <a:latin typeface="Arial"/>
            </a:endParaRPr>
          </a:p>
          <a:p>
            <a:r>
              <a:rPr b="1" lang="en-IN" sz="1800" spc="-1" strike="noStrike">
                <a:latin typeface="Times New Roman"/>
              </a:rPr>
              <a:t>                             </a:t>
            </a:r>
            <a:r>
              <a:rPr b="0" lang="en-IN" sz="1800" spc="-1" strike="noStrike">
                <a:latin typeface="Times New Roman"/>
              </a:rPr>
              <a:t> </a:t>
            </a:r>
            <a:r>
              <a:rPr b="0" lang="en-IN" sz="1800" spc="-1" strike="noStrike">
                <a:latin typeface="Times New Roman"/>
              </a:rPr>
              <a:t>Traditional IT</a:t>
            </a:r>
            <a:r>
              <a:rPr b="1" lang="en-IN" sz="1800" spc="-1" strike="noStrike">
                <a:latin typeface="Times New Roman"/>
              </a:rPr>
              <a:t>:</a:t>
            </a:r>
            <a:r>
              <a:rPr b="0" lang="en-IN" sz="1800" spc="-1" strike="noStrike">
                <a:latin typeface="Times New Roman"/>
              </a:rPr>
              <a:t> Siloed teams, delayed communication.</a:t>
            </a:r>
            <a:br/>
            <a:br/>
            <a:r>
              <a:rPr b="1" lang="en-IN" sz="1800" spc="-1" strike="noStrike">
                <a:latin typeface="Times New Roman"/>
              </a:rPr>
              <a:t>Development Cycle:</a:t>
            </a:r>
            <a:endParaRPr b="0" lang="en-IN" sz="1800" spc="-1" strike="noStrike">
              <a:latin typeface="Arial"/>
            </a:endParaRPr>
          </a:p>
          <a:p>
            <a:r>
              <a:rPr b="0" lang="en-IN" sz="1800" spc="-1" strike="noStrike">
                <a:latin typeface="Times New Roman"/>
              </a:rPr>
              <a:t>                              </a:t>
            </a:r>
            <a:r>
              <a:rPr b="0" lang="en-IN" sz="1800" spc="-1" strike="noStrike">
                <a:latin typeface="Times New Roman"/>
              </a:rPr>
              <a:t>DevOps:Agile, CI/CD, fast &amp; frequent releases.</a:t>
            </a:r>
            <a:endParaRPr b="0" lang="en-IN" sz="1800" spc="-1" strike="noStrike">
              <a:latin typeface="Arial"/>
            </a:endParaRPr>
          </a:p>
          <a:p>
            <a:r>
              <a:rPr b="0" lang="en-IN" sz="1800" spc="-1" strike="noStrike">
                <a:latin typeface="Times New Roman"/>
              </a:rPr>
              <a:t>                              </a:t>
            </a:r>
            <a:r>
              <a:rPr b="0" lang="en-IN" sz="1800" spc="-1" strike="noStrike">
                <a:latin typeface="Times New Roman"/>
              </a:rPr>
              <a:t>Traditional IT: Waterfall, long development cycles.</a:t>
            </a:r>
            <a:br/>
            <a:br/>
            <a:r>
              <a:rPr b="1" lang="en-IN" sz="1800" spc="-1" strike="noStrike">
                <a:latin typeface="Times New Roman"/>
              </a:rPr>
              <a:t>Automation:</a:t>
            </a:r>
            <a:endParaRPr b="0" lang="en-IN" sz="1800" spc="-1" strike="noStrike">
              <a:latin typeface="Arial"/>
            </a:endParaRPr>
          </a:p>
          <a:p>
            <a:r>
              <a:rPr b="0" lang="en-IN" sz="1800" spc="-1" strike="noStrike">
                <a:latin typeface="Times New Roman"/>
              </a:rPr>
              <a:t>                             </a:t>
            </a:r>
            <a:r>
              <a:rPr b="0" lang="en-IN" sz="1800" spc="-1" strike="noStrike">
                <a:latin typeface="Times New Roman"/>
              </a:rPr>
              <a:t>DevOps: High automation (CI/CD, testing, deployment).</a:t>
            </a:r>
            <a:endParaRPr b="0" lang="en-IN" sz="1800" spc="-1" strike="noStrike">
              <a:latin typeface="Arial"/>
            </a:endParaRPr>
          </a:p>
          <a:p>
            <a:r>
              <a:rPr b="0" lang="en-IN" sz="1800" spc="-1" strike="noStrike">
                <a:latin typeface="Times New Roman"/>
              </a:rPr>
              <a:t>                             </a:t>
            </a:r>
            <a:r>
              <a:rPr b="0" lang="en-IN" sz="1800" spc="-1" strike="noStrike">
                <a:latin typeface="Times New Roman"/>
              </a:rPr>
              <a:t>Traditional IT: Manual processes, slower deployments.</a:t>
            </a:r>
            <a:br/>
            <a:br/>
            <a:endParaRPr b="0" lang="en-IN" sz="1800" spc="-1" strike="noStrike">
              <a:latin typeface="Arial"/>
            </a:endParaRPr>
          </a:p>
        </p:txBody>
      </p:sp>
      <p:graphicFrame>
        <p:nvGraphicFramePr>
          <p:cNvPr id="265" name="Object 2"/>
          <p:cNvGraphicFramePr/>
          <p:nvPr/>
        </p:nvGraphicFramePr>
        <p:xfrm>
          <a:off x="-360000" y="-72000"/>
          <a:ext cx="6119280" cy="1077840"/>
        </p:xfrm>
        <a:graphic>
          <a:graphicData uri="http://schemas.openxmlformats.org/presentationml/2006/ole">
            <p:oleObj progId="Word.Document.12" r:id="rId1" spid="">
              <p:embed/>
              <p:pic>
                <p:nvPicPr>
                  <p:cNvPr id="266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-360000" y="-72000"/>
                    <a:ext cx="6119280" cy="1077840"/>
                  </a:xfrm>
                  <a:prstGeom prst="rect">
                    <a:avLst/>
                  </a:prstGeom>
                  <a:ln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TextShape 1"/>
          <p:cNvSpPr txBox="1"/>
          <p:nvPr/>
        </p:nvSpPr>
        <p:spPr>
          <a:xfrm>
            <a:off x="72000" y="864000"/>
            <a:ext cx="8784000" cy="48988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1" lang="en-IN" sz="1800" spc="-1" strike="noStrike">
                <a:latin typeface="Times New Roman"/>
              </a:rPr>
              <a:t>Infrastructure</a:t>
            </a:r>
            <a:endParaRPr b="0" lang="en-IN" sz="1800" spc="-1" strike="noStrike">
              <a:latin typeface="Arial"/>
            </a:endParaRPr>
          </a:p>
          <a:p>
            <a:r>
              <a:rPr b="0" lang="en-IN" sz="1800" spc="-1" strike="noStrike">
                <a:latin typeface="Times New Roman"/>
              </a:rPr>
              <a:t>                           </a:t>
            </a:r>
            <a:r>
              <a:rPr b="0" lang="en-IN" sz="1800" spc="-1" strike="noStrike">
                <a:latin typeface="Times New Roman"/>
              </a:rPr>
              <a:t>DevOps: Infrastructure as Code (IaC), scalable &amp; repeatable.</a:t>
            </a:r>
            <a:endParaRPr b="0" lang="en-IN" sz="1800" spc="-1" strike="noStrike">
              <a:latin typeface="Arial"/>
            </a:endParaRPr>
          </a:p>
          <a:p>
            <a:r>
              <a:rPr b="0" lang="en-IN" sz="1800" spc="-1" strike="noStrike">
                <a:latin typeface="Times New Roman"/>
              </a:rPr>
              <a:t>                           </a:t>
            </a:r>
            <a:r>
              <a:rPr b="0" lang="en-IN" sz="1800" spc="-1" strike="noStrike">
                <a:latin typeface="Times New Roman"/>
              </a:rPr>
              <a:t>Traditional IT: Manual infrastructure management.</a:t>
            </a:r>
            <a:endParaRPr b="0" lang="en-IN" sz="1800" spc="-1" strike="noStrike">
              <a:latin typeface="Arial"/>
            </a:endParaRPr>
          </a:p>
          <a:p>
            <a:endParaRPr b="0" lang="en-IN" sz="1800" spc="-1" strike="noStrike">
              <a:latin typeface="Arial"/>
            </a:endParaRPr>
          </a:p>
          <a:p>
            <a:r>
              <a:rPr b="1" lang="en-IN" sz="1800" spc="-1" strike="noStrike">
                <a:latin typeface="Times New Roman"/>
              </a:rPr>
              <a:t>Speed &amp; Flexibility</a:t>
            </a:r>
            <a:endParaRPr b="0" lang="en-IN" sz="1800" spc="-1" strike="noStrike">
              <a:latin typeface="Arial"/>
            </a:endParaRPr>
          </a:p>
          <a:p>
            <a:r>
              <a:rPr b="0" lang="en-IN" sz="1800" spc="-1" strike="noStrike">
                <a:latin typeface="Times New Roman"/>
              </a:rPr>
              <a:t>                          </a:t>
            </a:r>
            <a:r>
              <a:rPr b="0" lang="en-IN" sz="1800" spc="-1" strike="noStrike">
                <a:latin typeface="Times New Roman"/>
              </a:rPr>
              <a:t>DevOps: Rapid releases, adaptive to changes.</a:t>
            </a:r>
            <a:endParaRPr b="0" lang="en-IN" sz="1800" spc="-1" strike="noStrike">
              <a:latin typeface="Arial"/>
            </a:endParaRPr>
          </a:p>
          <a:p>
            <a:r>
              <a:rPr b="0" lang="en-IN" sz="1800" spc="-1" strike="noStrike">
                <a:latin typeface="Times New Roman"/>
              </a:rPr>
              <a:t>                          </a:t>
            </a:r>
            <a:r>
              <a:rPr b="0" lang="en-IN" sz="1800" spc="-1" strike="noStrike">
                <a:latin typeface="Times New Roman"/>
              </a:rPr>
              <a:t>Traditional IT: Slow, rigid updates.</a:t>
            </a:r>
            <a:endParaRPr b="0" lang="en-IN" sz="1800" spc="-1" strike="noStrike">
              <a:latin typeface="Arial"/>
            </a:endParaRPr>
          </a:p>
          <a:p>
            <a:endParaRPr b="0" lang="en-IN" sz="1800" spc="-1" strike="noStrike">
              <a:latin typeface="Arial"/>
            </a:endParaRPr>
          </a:p>
          <a:p>
            <a:r>
              <a:rPr b="1" lang="en-IN" sz="1800" spc="-1" strike="noStrike">
                <a:latin typeface="Times New Roman"/>
              </a:rPr>
              <a:t>Monitoring &amp; Feedback</a:t>
            </a:r>
            <a:endParaRPr b="0" lang="en-IN" sz="1800" spc="-1" strike="noStrike">
              <a:latin typeface="Arial"/>
            </a:endParaRPr>
          </a:p>
          <a:p>
            <a:r>
              <a:rPr b="0" lang="en-IN" sz="1800" spc="-1" strike="noStrike">
                <a:latin typeface="Times New Roman"/>
              </a:rPr>
              <a:t>                          </a:t>
            </a:r>
            <a:r>
              <a:rPr b="0" lang="en-IN" sz="1800" spc="-1" strike="noStrike">
                <a:latin typeface="Times New Roman"/>
              </a:rPr>
              <a:t>DevOps: Continuous monitoring &amp; proactive issue resolution.</a:t>
            </a:r>
            <a:endParaRPr b="0" lang="en-IN" sz="1800" spc="-1" strike="noStrike">
              <a:latin typeface="Arial"/>
            </a:endParaRPr>
          </a:p>
          <a:p>
            <a:r>
              <a:rPr b="0" lang="en-IN" sz="1800" spc="-1" strike="noStrike">
                <a:latin typeface="Times New Roman"/>
              </a:rPr>
              <a:t>                          </a:t>
            </a:r>
            <a:r>
              <a:rPr b="0" lang="en-IN" sz="1800" spc="-1" strike="noStrike">
                <a:latin typeface="Times New Roman"/>
              </a:rPr>
              <a:t>Traditional IT: Reactive monitoring, slower fixes.</a:t>
            </a:r>
            <a:endParaRPr b="0" lang="en-IN" sz="1800" spc="-1" strike="noStrike">
              <a:latin typeface="Arial"/>
            </a:endParaRPr>
          </a:p>
          <a:p>
            <a:r>
              <a:rPr b="1" lang="en-IN" sz="1800" spc="-1" strike="noStrike">
                <a:latin typeface="Times New Roman"/>
              </a:rPr>
              <a:t>Culture:</a:t>
            </a:r>
            <a:endParaRPr b="0" lang="en-IN" sz="1800" spc="-1" strike="noStrike">
              <a:latin typeface="Arial"/>
            </a:endParaRPr>
          </a:p>
          <a:p>
            <a:r>
              <a:rPr b="0" lang="en-IN" sz="1800" spc="-1" strike="noStrike">
                <a:latin typeface="Times New Roman"/>
              </a:rPr>
              <a:t>                        </a:t>
            </a:r>
            <a:r>
              <a:rPr b="0" lang="en-IN" sz="1800" spc="-1" strike="noStrike">
                <a:latin typeface="Times New Roman"/>
              </a:rPr>
              <a:t>DevOps: Collaborative, innovation-driven.</a:t>
            </a:r>
            <a:endParaRPr b="0" lang="en-IN" sz="1800" spc="-1" strike="noStrike">
              <a:latin typeface="Arial"/>
            </a:endParaRPr>
          </a:p>
          <a:p>
            <a:r>
              <a:rPr b="0" lang="en-IN" sz="1800" spc="-1" strike="noStrike">
                <a:latin typeface="Times New Roman"/>
              </a:rPr>
              <a:t>                        </a:t>
            </a:r>
            <a:r>
              <a:rPr b="0" lang="en-IN" sz="1800" spc="-1" strike="noStrike">
                <a:latin typeface="Times New Roman"/>
              </a:rPr>
              <a:t>Traditional IT: Hierarchical, rigid structure.</a:t>
            </a:r>
            <a:br/>
            <a:endParaRPr b="0" lang="en-IN" sz="1800" spc="-1" strike="noStrike">
              <a:latin typeface="Arial"/>
            </a:endParaRPr>
          </a:p>
          <a:p>
            <a:endParaRPr b="0" lang="en-IN" sz="1800" spc="-1" strike="noStrike">
              <a:latin typeface="Arial"/>
            </a:endParaRPr>
          </a:p>
          <a:p>
            <a:br/>
            <a:endParaRPr b="0" lang="en-IN" sz="1800" spc="-1" strike="noStrike">
              <a:latin typeface="Arial"/>
            </a:endParaRPr>
          </a:p>
          <a:p>
            <a:endParaRPr b="0" lang="en-IN" sz="1800" spc="-1" strike="noStrike">
              <a:latin typeface="Arial"/>
            </a:endParaRPr>
          </a:p>
        </p:txBody>
      </p:sp>
      <p:graphicFrame>
        <p:nvGraphicFramePr>
          <p:cNvPr id="268" name="Object 2"/>
          <p:cNvGraphicFramePr/>
          <p:nvPr/>
        </p:nvGraphicFramePr>
        <p:xfrm>
          <a:off x="-1295280" y="144000"/>
          <a:ext cx="6119280" cy="1008000"/>
        </p:xfrm>
        <a:graphic>
          <a:graphicData uri="http://schemas.openxmlformats.org/presentationml/2006/ole">
            <p:oleObj progId="Word.Document.12" r:id="rId1" spid="">
              <p:embed/>
              <p:pic>
                <p:nvPicPr>
                  <p:cNvPr id="269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-1295280" y="144000"/>
                    <a:ext cx="6119280" cy="1008000"/>
                  </a:xfrm>
                  <a:prstGeom prst="rect">
                    <a:avLst/>
                  </a:prstGeom>
                  <a:ln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TextShape 1"/>
          <p:cNvSpPr txBox="1"/>
          <p:nvPr/>
        </p:nvSpPr>
        <p:spPr>
          <a:xfrm>
            <a:off x="432000" y="234000"/>
            <a:ext cx="4514040" cy="702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1" lang="en" sz="2100" spc="-1" strike="noStrike">
                <a:solidFill>
                  <a:srgbClr val="003761"/>
                </a:solidFill>
                <a:latin typeface="Times New Roman"/>
                <a:ea typeface="Times New Roman"/>
              </a:rPr>
              <a:t>SDLC</a:t>
            </a:r>
            <a:endParaRPr b="0" lang="en-IN" sz="2100" spc="-1" strike="noStrike">
              <a:latin typeface="Arial"/>
            </a:endParaRPr>
          </a:p>
        </p:txBody>
      </p:sp>
      <p:sp>
        <p:nvSpPr>
          <p:cNvPr id="271" name="TextShape 2"/>
          <p:cNvSpPr txBox="1"/>
          <p:nvPr/>
        </p:nvSpPr>
        <p:spPr>
          <a:xfrm>
            <a:off x="216000" y="720000"/>
            <a:ext cx="8712000" cy="4104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rmAutofit/>
          </a:bodyPr>
          <a:p>
            <a:r>
              <a:rPr b="1" lang="en" sz="2100" spc="-1" strike="noStrike">
                <a:solidFill>
                  <a:srgbClr val="003761"/>
                </a:solidFill>
                <a:latin typeface="Times New Roman"/>
                <a:ea typeface="Times New Roman"/>
              </a:rPr>
              <a:t>I</a:t>
            </a:r>
            <a:endParaRPr b="0" lang="en-IN" sz="2100" spc="-1" strike="noStrike">
              <a:latin typeface="Arial"/>
            </a:endParaRPr>
          </a:p>
        </p:txBody>
      </p:sp>
      <p:sp>
        <p:nvSpPr>
          <p:cNvPr id="272" name="TextShape 3"/>
          <p:cNvSpPr txBox="1"/>
          <p:nvPr/>
        </p:nvSpPr>
        <p:spPr>
          <a:xfrm>
            <a:off x="4032000" y="1584000"/>
            <a:ext cx="4608000" cy="244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273" name="" descr=""/>
          <p:cNvPicPr/>
          <p:nvPr/>
        </p:nvPicPr>
        <p:blipFill>
          <a:blip r:embed="rId1"/>
          <a:stretch/>
        </p:blipFill>
        <p:spPr>
          <a:xfrm>
            <a:off x="1296000" y="635760"/>
            <a:ext cx="5976000" cy="33962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CustomShape 1"/>
          <p:cNvSpPr/>
          <p:nvPr/>
        </p:nvSpPr>
        <p:spPr>
          <a:xfrm>
            <a:off x="0" y="0"/>
            <a:ext cx="2209320" cy="380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Application>LibreOffice/6.4.7.2$Linux_X86_64 LibreOffice_project/40$Build-2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/>
  <dcterms:modified xsi:type="dcterms:W3CDTF">2025-02-09T16:57:36Z</dcterms:modified>
  <cp:revision>3</cp:revision>
  <dc:subject/>
  <dc:title/>
</cp:coreProperties>
</file>