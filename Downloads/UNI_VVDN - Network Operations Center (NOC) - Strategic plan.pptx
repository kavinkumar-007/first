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15ff803eb_1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2915ff803eb_1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aa4f47c9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9aa4f47c9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56f54fdf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656f54fdf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60adb49ee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60adb49ee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aa4f47c94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9aa4f47c94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915ff803eb_25_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2915ff803eb_25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2915ff803eb_25_3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hyperlink" Target="https://www.linkedin.com/company/vvdn-technologies/?originalSubdomain=in" TargetMode="External"/><Relationship Id="rId4" Type="http://schemas.openxmlformats.org/officeDocument/2006/relationships/hyperlink" Target="https://www.youtube.com/channel/UCTYKvWOIT6birVyZZFw_otQ" TargetMode="External"/><Relationship Id="rId11" Type="http://schemas.openxmlformats.org/officeDocument/2006/relationships/image" Target="../media/image20.png"/><Relationship Id="rId10" Type="http://schemas.openxmlformats.org/officeDocument/2006/relationships/hyperlink" Target="http://www.vvdntech.com/" TargetMode="External"/><Relationship Id="rId12" Type="http://schemas.openxmlformats.org/officeDocument/2006/relationships/image" Target="../media/image23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www.facebook.com/vvdntech/" TargetMode="External"/><Relationship Id="rId8" Type="http://schemas.openxmlformats.org/officeDocument/2006/relationships/hyperlink" Target="https://twitter.com/vvdn_tech?lang=en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hyperlink" Target="https://www.linkedin.com/company/vvdn-technologies/?originalSubdomain=in" TargetMode="External"/><Relationship Id="rId4" Type="http://schemas.openxmlformats.org/officeDocument/2006/relationships/hyperlink" Target="https://www.youtube.com/channel/UCTYKvWOIT6birVyZZFw_otQ" TargetMode="External"/><Relationship Id="rId11" Type="http://schemas.openxmlformats.org/officeDocument/2006/relationships/image" Target="../media/image20.png"/><Relationship Id="rId10" Type="http://schemas.openxmlformats.org/officeDocument/2006/relationships/hyperlink" Target="http://www.vvdntech.com/" TargetMode="External"/><Relationship Id="rId12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hyperlink" Target="https://www.facebook.com/vvdntech/" TargetMode="External"/><Relationship Id="rId8" Type="http://schemas.openxmlformats.org/officeDocument/2006/relationships/hyperlink" Target="https://twitter.com/vvdn_tech?lang=en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">
  <p:cSld name="Agenda 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1577" y="0"/>
            <a:ext cx="5981603" cy="515519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342900" y="290608"/>
            <a:ext cx="4712426" cy="3560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42900" y="945847"/>
            <a:ext cx="3174274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1100"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 sz="1100"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1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7825838" y="4857750"/>
            <a:ext cx="102856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77648" y="4868511"/>
            <a:ext cx="475352" cy="2307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7083"/>
            <a:ext cx="9142857" cy="5150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vvdn\ppt\imgpsh_fullsize_anim.png"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9" y="74725"/>
            <a:ext cx="2304153" cy="8476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7578029" y="4831979"/>
            <a:ext cx="1256043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17170" y="4860833"/>
            <a:ext cx="2488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VVDN Technologies 202</a:t>
            </a: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Confidential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5770449" y="3695030"/>
            <a:ext cx="970053" cy="228779"/>
          </a:xfrm>
          <a:prstGeom prst="rect">
            <a:avLst/>
          </a:prstGeom>
          <a:noFill/>
          <a:ln cap="flat" cmpd="sng" w="9525">
            <a:solidFill>
              <a:srgbClr val="005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526972" y="2432435"/>
            <a:ext cx="5457008" cy="7084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Black"/>
              <a:buNone/>
              <a:defRPr sz="3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/>
        </p:nvSpPr>
        <p:spPr>
          <a:xfrm>
            <a:off x="3526972" y="3244832"/>
            <a:ext cx="5457008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Premier Electronics Engineering &amp; Manufacturing Company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Creating Opportunities &amp; Transforming Lives !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">
  <p:cSld name="Agenda 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1577" y="0"/>
            <a:ext cx="5981603" cy="515519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type="title"/>
          </p:nvPr>
        </p:nvSpPr>
        <p:spPr>
          <a:xfrm>
            <a:off x="342900" y="290608"/>
            <a:ext cx="4712426" cy="3560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42900" y="945847"/>
            <a:ext cx="3174274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76" name="Google Shape;76;p16"/>
          <p:cNvSpPr/>
          <p:nvPr/>
        </p:nvSpPr>
        <p:spPr>
          <a:xfrm>
            <a:off x="7825838" y="4857750"/>
            <a:ext cx="102856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477648" y="4868511"/>
            <a:ext cx="475352" cy="2307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">
  <p:cSld name="Separato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>
            <p:ph type="title"/>
          </p:nvPr>
        </p:nvSpPr>
        <p:spPr>
          <a:xfrm>
            <a:off x="725084" y="4002515"/>
            <a:ext cx="7886700" cy="336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/>
          <p:nvPr/>
        </p:nvSpPr>
        <p:spPr>
          <a:xfrm rot="5400000">
            <a:off x="-5343" y="4129805"/>
            <a:ext cx="1156950" cy="818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7825838" y="4857750"/>
            <a:ext cx="102856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477648" y="4868511"/>
            <a:ext cx="475352" cy="2307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95288" y="4828640"/>
            <a:ext cx="306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©VVDN Technologies 202</a:t>
            </a: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| Confidential</a:t>
            </a:r>
            <a:endParaRPr b="0" i="0" sz="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7825838" y="4857750"/>
            <a:ext cx="102856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477648" y="4868511"/>
            <a:ext cx="475352" cy="2307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ding Slide">
  <p:cSld name="1_Ending Slid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0" y="4332515"/>
            <a:ext cx="9023167" cy="384998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00B1FF"/>
              </a:gs>
              <a:gs pos="100000">
                <a:srgbClr val="1957E0"/>
              </a:gs>
            </a:gsLst>
            <a:lin ang="10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9"/>
          <p:cNvGrpSpPr/>
          <p:nvPr/>
        </p:nvGrpSpPr>
        <p:grpSpPr>
          <a:xfrm>
            <a:off x="1794415" y="2316442"/>
            <a:ext cx="5555169" cy="1109929"/>
            <a:chOff x="2392554" y="2605989"/>
            <a:chExt cx="7406892" cy="1479905"/>
          </a:xfrm>
        </p:grpSpPr>
        <p:sp>
          <p:nvSpPr>
            <p:cNvPr id="92" name="Google Shape;92;p19"/>
            <p:cNvSpPr/>
            <p:nvPr/>
          </p:nvSpPr>
          <p:spPr>
            <a:xfrm>
              <a:off x="2933700" y="2605989"/>
              <a:ext cx="6324600" cy="1113254"/>
            </a:xfrm>
            <a:prstGeom prst="roundRect">
              <a:avLst>
                <a:gd fmla="val 1974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17500" sx="103000" rotWithShape="0" algn="ctr" dist="12700" sy="103000">
                <a:schemeClr val="lt2">
                  <a:alpha val="4000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3148874" y="2757999"/>
              <a:ext cx="581152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437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CREATE. INNOVATE. PRODUCE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437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#WEMAKEITHAPPEN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2527174" y="3412484"/>
              <a:ext cx="7137652" cy="673410"/>
            </a:xfrm>
            <a:prstGeom prst="roundRect">
              <a:avLst>
                <a:gd fmla="val 19744" name="adj"/>
              </a:avLst>
            </a:prstGeom>
            <a:gradFill>
              <a:gsLst>
                <a:gs pos="0">
                  <a:srgbClr val="00B2FF"/>
                </a:gs>
                <a:gs pos="100000">
                  <a:srgbClr val="1957E0"/>
                </a:gs>
              </a:gsLst>
              <a:lin ang="10800000" scaled="0"/>
            </a:gradFill>
            <a:ln>
              <a:noFill/>
            </a:ln>
            <a:effectLst>
              <a:outerShdw blurRad="203200" sx="95000" rotWithShape="0" algn="ctr" dist="12700" sy="95000">
                <a:srgbClr val="3F3F3F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2392554" y="3575260"/>
              <a:ext cx="74068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Premier Electronics Engineering &amp; Manufacturing Company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" name="Google Shape;9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876" y="4480349"/>
            <a:ext cx="125730" cy="12541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>
            <a:hlinkClick r:id="rId3"/>
          </p:cNvPr>
          <p:cNvSpPr txBox="1"/>
          <p:nvPr/>
        </p:nvSpPr>
        <p:spPr>
          <a:xfrm>
            <a:off x="484415" y="4424079"/>
            <a:ext cx="13729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>
            <a:hlinkClick r:id="rId4"/>
          </p:cNvPr>
          <p:cNvSpPr txBox="1"/>
          <p:nvPr/>
        </p:nvSpPr>
        <p:spPr>
          <a:xfrm>
            <a:off x="2286343" y="4418982"/>
            <a:ext cx="1337992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8003" y="4443917"/>
            <a:ext cx="244544" cy="16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7943" y="4463077"/>
            <a:ext cx="65462" cy="12085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>
            <a:hlinkClick r:id="rId7"/>
          </p:cNvPr>
          <p:cNvSpPr txBox="1"/>
          <p:nvPr/>
        </p:nvSpPr>
        <p:spPr>
          <a:xfrm>
            <a:off x="5620310" y="4414466"/>
            <a:ext cx="1321165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>
            <a:hlinkClick r:id="rId8"/>
          </p:cNvPr>
          <p:cNvSpPr txBox="1"/>
          <p:nvPr/>
        </p:nvSpPr>
        <p:spPr>
          <a:xfrm>
            <a:off x="7343598" y="4402765"/>
            <a:ext cx="1430288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03907" y="4457289"/>
            <a:ext cx="171888" cy="141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>
            <a:hlinkClick r:id="rId10"/>
          </p:cNvPr>
          <p:cNvSpPr txBox="1"/>
          <p:nvPr/>
        </p:nvSpPr>
        <p:spPr>
          <a:xfrm>
            <a:off x="3928640" y="4422359"/>
            <a:ext cx="14201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43590" y="4451622"/>
            <a:ext cx="193675" cy="1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50502" y="632543"/>
            <a:ext cx="3842996" cy="133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364399" y="101677"/>
            <a:ext cx="1430016" cy="25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Slide - Heading">
  <p:cSld name="1_Text Slide - Heading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72292" y="253994"/>
            <a:ext cx="7886700" cy="3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69319" y="743498"/>
            <a:ext cx="7886700" cy="40081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martArt/Chart/Diagram">
  <p:cSld name="1_SmartArt/Chart/Diagram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42900" y="397764"/>
            <a:ext cx="47953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100"/>
              <a:buFont typeface="Arial"/>
              <a:buNone/>
              <a:defRPr i="0" sz="2700">
                <a:solidFill>
                  <a:srgbClr val="0043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3457" y="1482829"/>
            <a:ext cx="7270343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633845" y="27431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376"/>
              </a:buClr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633845" y="1371600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⚫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⚫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23"/>
          <p:cNvSpPr txBox="1"/>
          <p:nvPr>
            <p:ph idx="2" type="body"/>
          </p:nvPr>
        </p:nvSpPr>
        <p:spPr>
          <a:xfrm>
            <a:off x="4629150" y="1371600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⚫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⚫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857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857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028950" y="4767262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00"/>
              <a:buFont typeface="Calibri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463144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200"/>
              <a:buFont typeface="Calibri"/>
              <a:buNone/>
              <a:defRPr b="0" i="0" sz="8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xt Slide - Heading, One Liner">
  <p:cSld name="2_Text Slide - Heading, One Lin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72292" y="253994"/>
            <a:ext cx="7886700" cy="3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69319" y="597626"/>
            <a:ext cx="522446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2" type="body"/>
          </p:nvPr>
        </p:nvSpPr>
        <p:spPr>
          <a:xfrm>
            <a:off x="369319" y="952604"/>
            <a:ext cx="7886700" cy="3694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 Slide - Heading, One Liner &amp; Sub-Heading">
  <p:cSld name="3_Text Slide - Heading, One Liner &amp; Sub-Heading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72292" y="241623"/>
            <a:ext cx="7886700" cy="3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69319" y="597626"/>
            <a:ext cx="522446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724988" y="990606"/>
            <a:ext cx="2655094" cy="3357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761"/>
              </a:buClr>
              <a:buSzPts val="1500"/>
              <a:buNone/>
              <a:defRPr sz="1500">
                <a:solidFill>
                  <a:srgbClr val="00376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cxnSp>
        <p:nvCxnSpPr>
          <p:cNvPr id="132" name="Google Shape;132;p25"/>
          <p:cNvCxnSpPr/>
          <p:nvPr/>
        </p:nvCxnSpPr>
        <p:spPr>
          <a:xfrm>
            <a:off x="450668" y="1134914"/>
            <a:ext cx="2743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5"/>
          <p:cNvSpPr txBox="1"/>
          <p:nvPr>
            <p:ph idx="3" type="body"/>
          </p:nvPr>
        </p:nvSpPr>
        <p:spPr>
          <a:xfrm>
            <a:off x="369319" y="1335971"/>
            <a:ext cx="7886700" cy="3415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Slide - Heading &amp; Sub heading">
  <p:cSld name="4_Text Slide - Heading &amp; Sub heading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72292" y="266366"/>
            <a:ext cx="7886700" cy="3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724988" y="749317"/>
            <a:ext cx="2655094" cy="3357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761"/>
              </a:buClr>
              <a:buSzPts val="1500"/>
              <a:buNone/>
              <a:defRPr sz="1500">
                <a:solidFill>
                  <a:srgbClr val="00376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cxnSp>
        <p:nvCxnSpPr>
          <p:cNvPr id="137" name="Google Shape;137;p26"/>
          <p:cNvCxnSpPr/>
          <p:nvPr/>
        </p:nvCxnSpPr>
        <p:spPr>
          <a:xfrm>
            <a:off x="450668" y="893625"/>
            <a:ext cx="27432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26"/>
          <p:cNvSpPr txBox="1"/>
          <p:nvPr>
            <p:ph idx="2" type="body"/>
          </p:nvPr>
        </p:nvSpPr>
        <p:spPr>
          <a:xfrm>
            <a:off x="369319" y="1103628"/>
            <a:ext cx="7886700" cy="3566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Slide Layout">
  <p:cSld name="1_Table Slide Layou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72292" y="253994"/>
            <a:ext cx="7886700" cy="3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7083"/>
            <a:ext cx="9142860" cy="5150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vvdn\ppt\imgpsh_fullsize_anim.png" id="151" name="Google Shape;1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9" y="74725"/>
            <a:ext cx="2304153" cy="84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/>
        </p:nvSpPr>
        <p:spPr>
          <a:xfrm>
            <a:off x="7578029" y="4831978"/>
            <a:ext cx="1256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sz="1100"/>
          </a:p>
        </p:txBody>
      </p:sp>
      <p:sp>
        <p:nvSpPr>
          <p:cNvPr id="153" name="Google Shape;153;p29"/>
          <p:cNvSpPr txBox="1"/>
          <p:nvPr/>
        </p:nvSpPr>
        <p:spPr>
          <a:xfrm>
            <a:off x="217170" y="4860833"/>
            <a:ext cx="2488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VVDN Technologies 2020 | Confidential</a:t>
            </a:r>
            <a:endParaRPr sz="1100"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5770449" y="3695030"/>
            <a:ext cx="969900" cy="228900"/>
          </a:xfrm>
          <a:prstGeom prst="rect">
            <a:avLst/>
          </a:prstGeom>
          <a:noFill/>
          <a:ln cap="flat" cmpd="sng" w="9525">
            <a:solidFill>
              <a:srgbClr val="005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3526972" y="2432435"/>
            <a:ext cx="54570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  <a:defRPr sz="21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/>
        </p:nvSpPr>
        <p:spPr>
          <a:xfrm>
            <a:off x="3526972" y="3244832"/>
            <a:ext cx="5457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Premier Electronics Engineering &amp; Manufacturing Company </a:t>
            </a:r>
            <a:endParaRPr sz="9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Creating Opportunities &amp; Transforming Lives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">
  <p:cSld name="Agenda 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1577" y="0"/>
            <a:ext cx="5981603" cy="515519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>
            <p:ph type="title"/>
          </p:nvPr>
        </p:nvSpPr>
        <p:spPr>
          <a:xfrm>
            <a:off x="342900" y="290609"/>
            <a:ext cx="4712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42900" y="945847"/>
            <a:ext cx="3174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61" name="Google Shape;161;p30"/>
          <p:cNvSpPr/>
          <p:nvPr/>
        </p:nvSpPr>
        <p:spPr>
          <a:xfrm>
            <a:off x="7825838" y="4857750"/>
            <a:ext cx="1028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sz="1100"/>
          </a:p>
        </p:txBody>
      </p:sp>
      <p:sp>
        <p:nvSpPr>
          <p:cNvPr id="162" name="Google Shape;162;p30"/>
          <p:cNvSpPr txBox="1"/>
          <p:nvPr/>
        </p:nvSpPr>
        <p:spPr>
          <a:xfrm>
            <a:off x="4477648" y="4868511"/>
            <a:ext cx="475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at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r>
              <a:rPr b="0" i="0" lang="en" sz="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sz="110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Slide - Heading">
  <p:cSld name="1_Text Slide - Heading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72292" y="265435"/>
            <a:ext cx="7886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69319" y="743498"/>
            <a:ext cx="78867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">
  <p:cSld name="Separato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2"/>
          <p:cNvSpPr txBox="1"/>
          <p:nvPr>
            <p:ph type="title"/>
          </p:nvPr>
        </p:nvSpPr>
        <p:spPr>
          <a:xfrm>
            <a:off x="725084" y="4002515"/>
            <a:ext cx="7886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2"/>
          <p:cNvSpPr/>
          <p:nvPr/>
        </p:nvSpPr>
        <p:spPr>
          <a:xfrm rot="5400000">
            <a:off x="-5452" y="4129845"/>
            <a:ext cx="1157100" cy="8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342900" y="4857749"/>
            <a:ext cx="306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©VVDN Technologies 2020 | Confidential</a:t>
            </a:r>
            <a:endParaRPr sz="1100"/>
          </a:p>
        </p:txBody>
      </p:sp>
      <p:sp>
        <p:nvSpPr>
          <p:cNvPr id="171" name="Google Shape;171;p32"/>
          <p:cNvSpPr/>
          <p:nvPr/>
        </p:nvSpPr>
        <p:spPr>
          <a:xfrm>
            <a:off x="7825838" y="4857750"/>
            <a:ext cx="102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sz="1100"/>
          </a:p>
        </p:txBody>
      </p:sp>
      <p:sp>
        <p:nvSpPr>
          <p:cNvPr id="172" name="Google Shape;172;p32"/>
          <p:cNvSpPr txBox="1"/>
          <p:nvPr/>
        </p:nvSpPr>
        <p:spPr>
          <a:xfrm>
            <a:off x="4477648" y="4868511"/>
            <a:ext cx="475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1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ark Background without Bar">
  <p:cSld name="1_Dark Background without Ba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/>
        </p:nvSpPr>
        <p:spPr>
          <a:xfrm>
            <a:off x="333375" y="83344"/>
            <a:ext cx="23097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ding Slide">
  <p:cSld name="1_Ending Slid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/>
          <p:nvPr/>
        </p:nvSpPr>
        <p:spPr>
          <a:xfrm>
            <a:off x="0" y="4332514"/>
            <a:ext cx="9023100" cy="3849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00B1FF"/>
              </a:gs>
              <a:gs pos="100000">
                <a:srgbClr val="1957E0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34"/>
          <p:cNvGrpSpPr/>
          <p:nvPr/>
        </p:nvGrpSpPr>
        <p:grpSpPr>
          <a:xfrm>
            <a:off x="1794415" y="2316442"/>
            <a:ext cx="5555250" cy="1109996"/>
            <a:chOff x="2392554" y="2605989"/>
            <a:chExt cx="7407000" cy="1479995"/>
          </a:xfrm>
        </p:grpSpPr>
        <p:sp>
          <p:nvSpPr>
            <p:cNvPr id="178" name="Google Shape;178;p34"/>
            <p:cNvSpPr/>
            <p:nvPr/>
          </p:nvSpPr>
          <p:spPr>
            <a:xfrm>
              <a:off x="2933700" y="2605989"/>
              <a:ext cx="6324600" cy="1113300"/>
            </a:xfrm>
            <a:prstGeom prst="roundRect">
              <a:avLst>
                <a:gd fmla="val 1974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17500" sx="103000" rotWithShape="0" algn="ctr" dist="12700" sy="103000">
                <a:schemeClr val="lt2">
                  <a:alpha val="40000"/>
                </a:scheme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4"/>
            <p:cNvSpPr/>
            <p:nvPr/>
          </p:nvSpPr>
          <p:spPr>
            <a:xfrm>
              <a:off x="3148874" y="2757999"/>
              <a:ext cx="58116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437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CREATE. INNOVATE. PRODUCE</a:t>
              </a:r>
              <a:endParaRPr sz="1100"/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437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#WEMAKEITHAPPEN</a:t>
              </a:r>
              <a:endParaRPr sz="1100"/>
            </a:p>
          </p:txBody>
        </p:sp>
        <p:sp>
          <p:nvSpPr>
            <p:cNvPr id="180" name="Google Shape;180;p34"/>
            <p:cNvSpPr/>
            <p:nvPr/>
          </p:nvSpPr>
          <p:spPr>
            <a:xfrm>
              <a:off x="2527174" y="3412484"/>
              <a:ext cx="7137600" cy="673500"/>
            </a:xfrm>
            <a:prstGeom prst="roundRect">
              <a:avLst>
                <a:gd fmla="val 19744" name="adj"/>
              </a:avLst>
            </a:prstGeom>
            <a:gradFill>
              <a:gsLst>
                <a:gs pos="0">
                  <a:srgbClr val="00B2FF"/>
                </a:gs>
                <a:gs pos="100000">
                  <a:srgbClr val="1957E0"/>
                </a:gs>
              </a:gsLst>
              <a:lin ang="10800025" scaled="0"/>
            </a:gradFill>
            <a:ln>
              <a:noFill/>
            </a:ln>
            <a:effectLst>
              <a:outerShdw blurRad="203200" sx="95000" rotWithShape="0" algn="ctr" dist="12700" sy="95000">
                <a:srgbClr val="3F3F3F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4"/>
            <p:cNvSpPr/>
            <p:nvPr/>
          </p:nvSpPr>
          <p:spPr>
            <a:xfrm>
              <a:off x="2392554" y="3575260"/>
              <a:ext cx="740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Premier Electronics Engineering &amp; Manufacturing Company</a:t>
              </a:r>
              <a:endParaRPr sz="1100"/>
            </a:p>
          </p:txBody>
        </p:sp>
      </p:grpSp>
      <p:pic>
        <p:nvPicPr>
          <p:cNvPr id="182" name="Google Shape;18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118" y="4479419"/>
            <a:ext cx="125730" cy="125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>
            <a:hlinkClick r:id="rId3"/>
          </p:cNvPr>
          <p:cNvSpPr txBox="1"/>
          <p:nvPr/>
        </p:nvSpPr>
        <p:spPr>
          <a:xfrm>
            <a:off x="484414" y="4424079"/>
            <a:ext cx="137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sz="1100"/>
          </a:p>
        </p:txBody>
      </p:sp>
      <p:sp>
        <p:nvSpPr>
          <p:cNvPr id="184" name="Google Shape;184;p34">
            <a:hlinkClick r:id="rId4"/>
          </p:cNvPr>
          <p:cNvSpPr txBox="1"/>
          <p:nvPr/>
        </p:nvSpPr>
        <p:spPr>
          <a:xfrm>
            <a:off x="2286343" y="4418982"/>
            <a:ext cx="133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sz="1100"/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8003" y="4443917"/>
            <a:ext cx="244543" cy="16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7943" y="4463077"/>
            <a:ext cx="65462" cy="120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>
            <a:hlinkClick r:id="rId7"/>
          </p:cNvPr>
          <p:cNvSpPr txBox="1"/>
          <p:nvPr/>
        </p:nvSpPr>
        <p:spPr>
          <a:xfrm>
            <a:off x="5620310" y="4414465"/>
            <a:ext cx="132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sz="1100"/>
          </a:p>
        </p:txBody>
      </p:sp>
      <p:sp>
        <p:nvSpPr>
          <p:cNvPr id="188" name="Google Shape;188;p34">
            <a:hlinkClick r:id="rId8"/>
          </p:cNvPr>
          <p:cNvSpPr txBox="1"/>
          <p:nvPr/>
        </p:nvSpPr>
        <p:spPr>
          <a:xfrm>
            <a:off x="7343598" y="4402765"/>
            <a:ext cx="1430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vvdn-technologies</a:t>
            </a:r>
            <a:endParaRPr sz="1100"/>
          </a:p>
        </p:txBody>
      </p:sp>
      <p:pic>
        <p:nvPicPr>
          <p:cNvPr id="189" name="Google Shape;189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03907" y="4457289"/>
            <a:ext cx="171888" cy="14137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4">
            <a:hlinkClick r:id="rId10"/>
          </p:cNvPr>
          <p:cNvSpPr txBox="1"/>
          <p:nvPr/>
        </p:nvSpPr>
        <p:spPr>
          <a:xfrm>
            <a:off x="3928640" y="4422359"/>
            <a:ext cx="1420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sz="1100"/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43589" y="4451622"/>
            <a:ext cx="193676" cy="19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50502" y="632543"/>
            <a:ext cx="3842996" cy="133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/>
          <p:nvPr/>
        </p:nvSpPr>
        <p:spPr>
          <a:xfrm>
            <a:off x="364400" y="101677"/>
            <a:ext cx="1430100" cy="2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xt Slide - Heading, One Liner">
  <p:cSld name="2_Text Slide - Heading, One Lin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72292" y="265435"/>
            <a:ext cx="7886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69319" y="597626"/>
            <a:ext cx="522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2" type="body"/>
          </p:nvPr>
        </p:nvSpPr>
        <p:spPr>
          <a:xfrm>
            <a:off x="369319" y="952604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 Slide - Heading, One Liner &amp; Sub-Heading">
  <p:cSld name="3_Text Slide - Heading, One Liner &amp; Sub-Heading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72292" y="265435"/>
            <a:ext cx="7886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69319" y="597626"/>
            <a:ext cx="5224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2" type="body"/>
          </p:nvPr>
        </p:nvSpPr>
        <p:spPr>
          <a:xfrm>
            <a:off x="724988" y="990606"/>
            <a:ext cx="2655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761"/>
              </a:buClr>
              <a:buSzPts val="1500"/>
              <a:buNone/>
              <a:defRPr sz="1500">
                <a:solidFill>
                  <a:srgbClr val="00376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cxnSp>
        <p:nvCxnSpPr>
          <p:cNvPr id="202" name="Google Shape;202;p36"/>
          <p:cNvCxnSpPr/>
          <p:nvPr/>
        </p:nvCxnSpPr>
        <p:spPr>
          <a:xfrm>
            <a:off x="450668" y="1134914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36"/>
          <p:cNvSpPr txBox="1"/>
          <p:nvPr>
            <p:ph idx="3" type="body"/>
          </p:nvPr>
        </p:nvSpPr>
        <p:spPr>
          <a:xfrm>
            <a:off x="369319" y="1335970"/>
            <a:ext cx="7886700" cy="3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Slide - Heading &amp; Sub heading">
  <p:cSld name="4_Text Slide - Heading &amp; Sub heading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72292" y="265435"/>
            <a:ext cx="7886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724988" y="749317"/>
            <a:ext cx="2655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761"/>
              </a:buClr>
              <a:buSzPts val="1500"/>
              <a:buNone/>
              <a:defRPr sz="1500">
                <a:solidFill>
                  <a:srgbClr val="00376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o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cxnSp>
        <p:nvCxnSpPr>
          <p:cNvPr id="207" name="Google Shape;207;p37"/>
          <p:cNvCxnSpPr/>
          <p:nvPr/>
        </p:nvCxnSpPr>
        <p:spPr>
          <a:xfrm>
            <a:off x="450668" y="893625"/>
            <a:ext cx="274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37"/>
          <p:cNvSpPr txBox="1"/>
          <p:nvPr>
            <p:ph idx="2" type="body"/>
          </p:nvPr>
        </p:nvSpPr>
        <p:spPr>
          <a:xfrm>
            <a:off x="369319" y="1103628"/>
            <a:ext cx="78867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Slide Layout">
  <p:cSld name="1_Table Slide Layou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72292" y="265435"/>
            <a:ext cx="7886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342900" y="4857749"/>
            <a:ext cx="306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©VVDN Technologies 202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| Confidential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42900" y="29060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 b="0" i="0" sz="2100" u="none" cap="none" strike="noStrike">
                <a:solidFill>
                  <a:srgbClr val="5D5D5D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42900" y="1434133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7825838" y="4857750"/>
            <a:ext cx="102856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477648" y="4868511"/>
            <a:ext cx="475352" cy="2307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44625" y="176502"/>
            <a:ext cx="1156950" cy="81832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88" y="0"/>
            <a:ext cx="91422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342900" y="4857749"/>
            <a:ext cx="306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©VVDN Technologies 2020 | Confidential</a:t>
            </a:r>
            <a:endParaRPr sz="1100"/>
          </a:p>
        </p:txBody>
      </p:sp>
      <p:sp>
        <p:nvSpPr>
          <p:cNvPr id="144" name="Google Shape;144;p28"/>
          <p:cNvSpPr txBox="1"/>
          <p:nvPr>
            <p:ph type="title"/>
          </p:nvPr>
        </p:nvSpPr>
        <p:spPr>
          <a:xfrm>
            <a:off x="342900" y="29060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ontserrat Black"/>
              <a:buNone/>
              <a:defRPr b="0" i="0" sz="2100" u="none" cap="none" strike="noStrike">
                <a:solidFill>
                  <a:srgbClr val="5D5D5D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42900" y="143413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8"/>
          <p:cNvSpPr/>
          <p:nvPr/>
        </p:nvSpPr>
        <p:spPr>
          <a:xfrm>
            <a:off x="7825838" y="4857750"/>
            <a:ext cx="102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www.vvdntech.com</a:t>
            </a:r>
            <a:endParaRPr sz="1100"/>
          </a:p>
        </p:txBody>
      </p:sp>
      <p:sp>
        <p:nvSpPr>
          <p:cNvPr id="147" name="Google Shape;147;p28"/>
          <p:cNvSpPr txBox="1"/>
          <p:nvPr/>
        </p:nvSpPr>
        <p:spPr>
          <a:xfrm>
            <a:off x="4477648" y="4868511"/>
            <a:ext cx="475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100"/>
          </a:p>
        </p:txBody>
      </p:sp>
      <p:sp>
        <p:nvSpPr>
          <p:cNvPr id="148" name="Google Shape;148;p28"/>
          <p:cNvSpPr/>
          <p:nvPr/>
        </p:nvSpPr>
        <p:spPr>
          <a:xfrm>
            <a:off x="444625" y="176502"/>
            <a:ext cx="1157100" cy="81900"/>
          </a:xfrm>
          <a:prstGeom prst="rect">
            <a:avLst/>
          </a:prstGeom>
          <a:solidFill>
            <a:srgbClr val="003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5560875" y="3695025"/>
            <a:ext cx="1779975" cy="228825"/>
          </a:xfrm>
          <a:prstGeom prst="rect">
            <a:avLst/>
          </a:prstGeom>
          <a:noFill/>
          <a:ln cap="flat" cmpd="sng" w="9525">
            <a:solidFill>
              <a:srgbClr val="005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Jan-2024</a:t>
            </a:r>
            <a:endParaRPr sz="800"/>
          </a:p>
        </p:txBody>
      </p:sp>
      <p:sp>
        <p:nvSpPr>
          <p:cNvPr id="216" name="Google Shape;216;p39"/>
          <p:cNvSpPr txBox="1"/>
          <p:nvPr>
            <p:ph type="title"/>
          </p:nvPr>
        </p:nvSpPr>
        <p:spPr>
          <a:xfrm>
            <a:off x="3357375" y="2432438"/>
            <a:ext cx="5786550" cy="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Black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Black"/>
              <a:buNone/>
            </a:pPr>
            <a:r>
              <a:rPr lang="en" sz="1600"/>
              <a:t>VVDN Network Operations Center (NOC)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543825" y="3134125"/>
            <a:ext cx="59151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rPr lang="en"/>
              <a:t>A Strategic Plan for Network Operational Center (NOC)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/>
        </p:nvSpPr>
        <p:spPr>
          <a:xfrm>
            <a:off x="252825" y="299400"/>
            <a:ext cx="837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strategy towards designing NOC</a:t>
            </a:r>
            <a:endParaRPr b="1" sz="21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1"/>
          <p:cNvSpPr txBox="1"/>
          <p:nvPr/>
        </p:nvSpPr>
        <p:spPr>
          <a:xfrm>
            <a:off x="330300" y="972450"/>
            <a:ext cx="8483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Comprehend the responsibilities and functions of the current FSC NOC Team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discussion with the client regarding their respective duties.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Examination of the current strategic approach of FSC NOC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engage in discussions (Knowledge Transfer) with the client’s NOC team to gain insights into their strategy.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pertinent information will be meticulously documented within the knowledge 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areas from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NOC setup.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establish a comprehensive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elements that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 unchanged (guided by specific considerations)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areas of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 (new tools, technologies and metrics)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Aspects that warrant modification ( such as irrelevant metrics, more reliable reports)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/>
        </p:nvSpPr>
        <p:spPr>
          <a:xfrm>
            <a:off x="252825" y="299400"/>
            <a:ext cx="837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strategy towards designing NOC</a:t>
            </a:r>
            <a:endParaRPr sz="120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330300" y="742175"/>
            <a:ext cx="8483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What VVDN can bring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analyse the elements for enhancement and evaluate the components related to latest technology, aiming to optimize cost efficiency without disrupting business operations.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assess the potential inclusion of new metrics and alerting system for proactive monitoring.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 monitor both Cloud and On-prem, we make sufficient and relevant dashboards are in-place.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Areas of Manpower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initiate collaboration by engaging our NOC Team to work in tandem with the client’s NOC Team.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VVDN can start with 2 members and then depending on workload, roles and shifts, team members can be increased gradually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enlist our team to facilitate improvements in your NOC infrastructure and alerting system.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type="title"/>
          </p:nvPr>
        </p:nvSpPr>
        <p:spPr>
          <a:xfrm>
            <a:off x="543813" y="3001886"/>
            <a:ext cx="5915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rPr lang="en"/>
              <a:t>Thank you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Black"/>
              <a:buNone/>
            </a:pPr>
            <a:r>
              <a:t/>
            </a:r>
            <a:endParaRPr/>
          </a:p>
        </p:txBody>
      </p:sp>
      <p:sp>
        <p:nvSpPr>
          <p:cNvPr id="239" name="Google Shape;239;p43"/>
          <p:cNvSpPr txBox="1"/>
          <p:nvPr/>
        </p:nvSpPr>
        <p:spPr>
          <a:xfrm>
            <a:off x="3698225" y="1629500"/>
            <a:ext cx="13602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 &amp; A</a:t>
            </a:r>
            <a:endParaRPr b="1"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/>
          <p:nvPr/>
        </p:nvSpPr>
        <p:spPr>
          <a:xfrm>
            <a:off x="0" y="0"/>
            <a:ext cx="22098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VVDN Theme Colors">
      <a:dk1>
        <a:srgbClr val="000000"/>
      </a:dk1>
      <a:lt1>
        <a:srgbClr val="FFFFFF"/>
      </a:lt1>
      <a:dk2>
        <a:srgbClr val="5D5D5D"/>
      </a:dk2>
      <a:lt2>
        <a:srgbClr val="888888"/>
      </a:lt2>
      <a:accent1>
        <a:srgbClr val="003761"/>
      </a:accent1>
      <a:accent2>
        <a:srgbClr val="00B2FF"/>
      </a:accent2>
      <a:accent3>
        <a:srgbClr val="1957E0"/>
      </a:accent3>
      <a:accent4>
        <a:srgbClr val="000000"/>
      </a:accent4>
      <a:accent5>
        <a:srgbClr val="5D5D5D"/>
      </a:accent5>
      <a:accent6>
        <a:srgbClr val="888888"/>
      </a:accent6>
      <a:hlink>
        <a:srgbClr val="1957E0"/>
      </a:hlink>
      <a:folHlink>
        <a:srgbClr val="1958E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VDN_Ppt Theme_Oct 2020_A0-01">
  <a:themeElements>
    <a:clrScheme name="VVDN Theme Colors">
      <a:dk1>
        <a:srgbClr val="000000"/>
      </a:dk1>
      <a:lt1>
        <a:srgbClr val="FFFFFF"/>
      </a:lt1>
      <a:dk2>
        <a:srgbClr val="5D5D5D"/>
      </a:dk2>
      <a:lt2>
        <a:srgbClr val="888888"/>
      </a:lt2>
      <a:accent1>
        <a:srgbClr val="003761"/>
      </a:accent1>
      <a:accent2>
        <a:srgbClr val="00B2FF"/>
      </a:accent2>
      <a:accent3>
        <a:srgbClr val="1957E0"/>
      </a:accent3>
      <a:accent4>
        <a:srgbClr val="000000"/>
      </a:accent4>
      <a:accent5>
        <a:srgbClr val="5D5D5D"/>
      </a:accent5>
      <a:accent6>
        <a:srgbClr val="888888"/>
      </a:accent6>
      <a:hlink>
        <a:srgbClr val="1957E0"/>
      </a:hlink>
      <a:folHlink>
        <a:srgbClr val="1958E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