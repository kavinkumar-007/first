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_rels/notesSlide16.xml.rels" ContentType="application/vnd.openxmlformats-package.relationships+xml"/>
  <Override PartName="/ppt/notesSlides/notesSlide16.xml" ContentType="application/vnd.openxmlformats-officedocument.presentationml.notesSlide+xml"/>
  <Override PartName="/ppt/_rels/presentation.xml.rels" ContentType="application/vnd.openxmlformats-package.relationships+xml"/>
  <Override PartName="/ppt/media/image10.png" ContentType="image/png"/>
  <Override PartName="/ppt/media/image9.png" ContentType="image/png"/>
  <Override PartName="/ppt/media/image13.png" ContentType="image/png"/>
  <Override PartName="/ppt/media/image8.png" ContentType="image/png"/>
  <Override PartName="/ppt/media/image12.png" ContentType="image/png"/>
  <Override PartName="/ppt/media/image7.png" ContentType="image/png"/>
  <Override PartName="/ppt/media/image11.png" ContentType="image/png"/>
  <Override PartName="/ppt/media/image6.png" ContentType="image/png"/>
  <Override PartName="/ppt/media/image5.jpeg" ContentType="image/jpeg"/>
  <Override PartName="/ppt/media/image4.png" ContentType="image/png"/>
  <Override PartName="/ppt/media/image27.png" ContentType="image/png"/>
  <Override PartName="/ppt/media/image3.png" ContentType="image/png"/>
  <Override PartName="/ppt/media/image2.jpeg" ContentType="image/jpeg"/>
  <Override PartName="/ppt/media/image25.wmf" ContentType="image/x-wmf"/>
  <Override PartName="/ppt/media/image26.wmf" ContentType="image/x-wmf"/>
  <Override PartName="/ppt/media/image15.png" ContentType="image/png"/>
  <Override PartName="/ppt/media/image23.wmf" ContentType="image/x-wmf"/>
  <Override PartName="/ppt/media/image22.png" ContentType="image/png"/>
  <Override PartName="/ppt/media/image21.png" ContentType="image/png"/>
  <Override PartName="/ppt/media/image19.png" ContentType="image/png"/>
  <Override PartName="/ppt/media/image24.png" ContentType="image/png"/>
  <Override PartName="/ppt/media/image1.png" ContentType="image/png"/>
  <Override PartName="/ppt/media/image20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4.png" ContentType="image/png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9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embeddings/oleObject1.bin" ContentType="application/vnd.openxmlformats-officedocument.oleObject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5143500"/>
  <p:notesSz cx="6858000" cy="9144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IN" sz="4400" spc="-1" strike="noStrike">
                <a:latin typeface="Arial"/>
              </a:rPr>
              <a:t>Click to move the slide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205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r"/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206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207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pPr algn="r"/>
            <a:fld id="{3C4FAA94-CF5F-4D62-82BF-59A505090177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</p:spPr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6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71" name="CustomShape 3"/>
          <p:cNvSpPr/>
          <p:nvPr/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79374A9A-C1A5-430B-8DF5-9DF7BE8EF691}" type="slidenum"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en-IN" sz="1400" spc="-1" strike="noStrike"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7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90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95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96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97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21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2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2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3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7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8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9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40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7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82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86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93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94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98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99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00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01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1.xml"/><Relationship Id="rId6" Type="http://schemas.openxmlformats.org/officeDocument/2006/relationships/slideLayout" Target="../slideLayouts/slideLayout2.xml"/><Relationship Id="rId7" Type="http://schemas.openxmlformats.org/officeDocument/2006/relationships/slideLayout" Target="../slideLayouts/slideLayout3.xml"/><Relationship Id="rId8" Type="http://schemas.openxmlformats.org/officeDocument/2006/relationships/slideLayout" Target="../slideLayouts/slideLayout4.xml"/><Relationship Id="rId9" Type="http://schemas.openxmlformats.org/officeDocument/2006/relationships/slideLayout" Target="../slideLayouts/slideLayout5.xml"/><Relationship Id="rId10" Type="http://schemas.openxmlformats.org/officeDocument/2006/relationships/slideLayout" Target="../slideLayouts/slideLayout6.xml"/><Relationship Id="rId11" Type="http://schemas.openxmlformats.org/officeDocument/2006/relationships/slideLayout" Target="../slideLayouts/slideLayout7.xml"/><Relationship Id="rId12" Type="http://schemas.openxmlformats.org/officeDocument/2006/relationships/slideLayout" Target="../slideLayouts/slideLayout8.xml"/><Relationship Id="rId13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11.xml"/><Relationship Id="rId16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4.png"/><Relationship Id="rId3" Type="http://schemas.openxmlformats.org/officeDocument/2006/relationships/image" Target="../media/image5.jpeg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43.xml"/><Relationship Id="rId16" Type="http://schemas.openxmlformats.org/officeDocument/2006/relationships/slideLayout" Target="../slideLayouts/slideLayout44.xml"/><Relationship Id="rId17" Type="http://schemas.openxmlformats.org/officeDocument/2006/relationships/slideLayout" Target="../slideLayouts/slideLayout45.xml"/><Relationship Id="rId18" Type="http://schemas.openxmlformats.org/officeDocument/2006/relationships/slideLayout" Target="../slideLayouts/slideLayout46.xml"/><Relationship Id="rId19" Type="http://schemas.openxmlformats.org/officeDocument/2006/relationships/slideLayout" Target="../slideLayouts/slideLayout47.xml"/><Relationship Id="rId20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oogle Shape;57;p14" descr=""/>
          <p:cNvPicPr/>
          <p:nvPr/>
        </p:nvPicPr>
        <p:blipFill>
          <a:blip r:embed="rId2"/>
          <a:stretch/>
        </p:blipFill>
        <p:spPr>
          <a:xfrm>
            <a:off x="720" y="0"/>
            <a:ext cx="9141120" cy="5142600"/>
          </a:xfrm>
          <a:prstGeom prst="rect">
            <a:avLst/>
          </a:prstGeom>
          <a:ln>
            <a:noFill/>
          </a:ln>
        </p:spPr>
      </p:pic>
      <p:sp>
        <p:nvSpPr>
          <p:cNvPr id="1" name="CustomShape 1"/>
          <p:cNvSpPr/>
          <p:nvPr/>
        </p:nvSpPr>
        <p:spPr>
          <a:xfrm>
            <a:off x="343080" y="4857840"/>
            <a:ext cx="3067560" cy="189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pc="-1" strike="noStrike">
                <a:solidFill>
                  <a:srgbClr val="000000"/>
                </a:solidFill>
                <a:latin typeface="Calibri"/>
                <a:ea typeface="Calibri"/>
              </a:rPr>
              <a:t>©VVDN Technologies 2024 | Confidential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" name="CustomShape 2"/>
          <p:cNvSpPr/>
          <p:nvPr/>
        </p:nvSpPr>
        <p:spPr>
          <a:xfrm>
            <a:off x="7825680" y="4857840"/>
            <a:ext cx="1027440" cy="195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pc="-1" strike="noStrike">
                <a:solidFill>
                  <a:srgbClr val="000000"/>
                </a:solidFill>
                <a:latin typeface="Calibri"/>
                <a:ea typeface="Calibri"/>
              </a:rPr>
              <a:t>www.vvdntech.com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3" name="CustomShape 3"/>
          <p:cNvSpPr/>
          <p:nvPr/>
        </p:nvSpPr>
        <p:spPr>
          <a:xfrm>
            <a:off x="4477680" y="4868640"/>
            <a:ext cx="474120" cy="229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pc="-1" strike="noStrike">
                <a:solidFill>
                  <a:srgbClr val="000000"/>
                </a:solidFill>
                <a:latin typeface="Calibri"/>
                <a:ea typeface="Calibri"/>
              </a:rPr>
              <a:t>-</a:t>
            </a:r>
            <a:fld id="{BB5852C3-6644-4C55-BA27-0C04153F8076}" type="slidenum">
              <a:rPr b="0" lang="en" sz="800" spc="-1" strike="noStrike">
                <a:solidFill>
                  <a:srgbClr val="000000"/>
                </a:solidFill>
                <a:latin typeface="Calibri"/>
                <a:ea typeface="Calibri"/>
              </a:rPr>
              <a:t>&lt;number&gt;</a:t>
            </a:fld>
            <a:r>
              <a:rPr b="0" lang="en" sz="800" spc="-1" strike="noStrike">
                <a:solidFill>
                  <a:srgbClr val="000000"/>
                </a:solidFill>
                <a:latin typeface="Calibri"/>
                <a:ea typeface="Calibri"/>
              </a:rPr>
              <a:t>-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4" name="CustomShape 4"/>
          <p:cNvSpPr/>
          <p:nvPr/>
        </p:nvSpPr>
        <p:spPr>
          <a:xfrm>
            <a:off x="444600" y="176400"/>
            <a:ext cx="1155960" cy="80640"/>
          </a:xfrm>
          <a:prstGeom prst="rect">
            <a:avLst/>
          </a:prstGeom>
          <a:solidFill>
            <a:srgbClr val="003761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5" name="Google Shape;65;p15" descr=""/>
          <p:cNvPicPr/>
          <p:nvPr/>
        </p:nvPicPr>
        <p:blipFill>
          <a:blip r:embed="rId3"/>
          <a:stretch/>
        </p:blipFill>
        <p:spPr>
          <a:xfrm>
            <a:off x="0" y="-7200"/>
            <a:ext cx="9141840" cy="5149440"/>
          </a:xfrm>
          <a:prstGeom prst="rect">
            <a:avLst/>
          </a:prstGeom>
          <a:ln>
            <a:noFill/>
          </a:ln>
        </p:spPr>
      </p:pic>
      <p:pic>
        <p:nvPicPr>
          <p:cNvPr id="6" name="Google Shape;66;p15" descr="E:\vvdn\ppt\imgpsh_fullsize_anim.png"/>
          <p:cNvPicPr/>
          <p:nvPr/>
        </p:nvPicPr>
        <p:blipFill>
          <a:blip r:embed="rId4"/>
          <a:stretch/>
        </p:blipFill>
        <p:spPr>
          <a:xfrm>
            <a:off x="97920" y="74880"/>
            <a:ext cx="2302920" cy="846360"/>
          </a:xfrm>
          <a:prstGeom prst="rect">
            <a:avLst/>
          </a:prstGeom>
          <a:ln>
            <a:noFill/>
          </a:ln>
        </p:spPr>
      </p:pic>
      <p:sp>
        <p:nvSpPr>
          <p:cNvPr id="7" name="CustomShape 5"/>
          <p:cNvSpPr/>
          <p:nvPr/>
        </p:nvSpPr>
        <p:spPr>
          <a:xfrm>
            <a:off x="7578000" y="4831920"/>
            <a:ext cx="1254960" cy="311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800" spc="-1" strike="noStrike">
                <a:solidFill>
                  <a:srgbClr val="000000"/>
                </a:solidFill>
                <a:latin typeface="Calibri"/>
                <a:ea typeface="Calibri"/>
              </a:rPr>
              <a:t>www.vvdntech.com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8" name="CustomShape 6"/>
          <p:cNvSpPr/>
          <p:nvPr/>
        </p:nvSpPr>
        <p:spPr>
          <a:xfrm>
            <a:off x="217080" y="4860720"/>
            <a:ext cx="2487600" cy="311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800" spc="-1" strike="noStrike">
                <a:solidFill>
                  <a:srgbClr val="000000"/>
                </a:solidFill>
                <a:latin typeface="Calibri"/>
                <a:ea typeface="Calibri"/>
              </a:rPr>
              <a:t>© VVDN Technologies 2024 | Confidential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9" name="CustomShape 7"/>
          <p:cNvSpPr/>
          <p:nvPr/>
        </p:nvSpPr>
        <p:spPr>
          <a:xfrm>
            <a:off x="3526920" y="3244680"/>
            <a:ext cx="5455800" cy="342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900" spc="-1" strike="noStrike">
                <a:solidFill>
                  <a:srgbClr val="ffffff"/>
                </a:solidFill>
                <a:latin typeface="Montserrat Medium"/>
                <a:ea typeface="Montserrat Medium"/>
              </a:rPr>
              <a:t>Premier Electronics Engineering &amp; Manufacturing Company</a:t>
            </a:r>
            <a:endParaRPr b="0" lang="en-IN" sz="900" spc="-1" strike="noStrike"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900" spc="-1" strike="noStrike">
                <a:solidFill>
                  <a:srgbClr val="ffffff"/>
                </a:solidFill>
                <a:latin typeface="Montserrat Medium"/>
                <a:ea typeface="Montserrat Medium"/>
              </a:rPr>
              <a:t>Creating Opportunities &amp; Transforming Lives !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0" name="PlaceHolder 8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latin typeface="Arial"/>
              </a:rPr>
              <a:t>Click to edit the </a:t>
            </a:r>
            <a:r>
              <a:rPr b="0" lang="en-IN" sz="1800" spc="-1" strike="noStrike">
                <a:latin typeface="Arial"/>
              </a:rPr>
              <a:t>title text format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" name="PlaceHolder 9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latin typeface="Arial"/>
              </a:rPr>
              <a:t>Click to edit the outline text format</a:t>
            </a:r>
            <a:endParaRPr b="0" lang="en-IN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latin typeface="Arial"/>
              </a:rPr>
              <a:t>Second Outline Level</a:t>
            </a:r>
            <a:endParaRPr b="0" lang="en-IN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latin typeface="Arial"/>
              </a:rPr>
              <a:t>Third Outline Level</a:t>
            </a:r>
            <a:endParaRPr b="0" lang="en-IN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latin typeface="Arial"/>
              </a:rPr>
              <a:t>Fourth Outline Level</a:t>
            </a:r>
            <a:endParaRPr b="0" lang="en-IN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latin typeface="Arial"/>
              </a:rPr>
              <a:t>Fifth Outline Level</a:t>
            </a:r>
            <a:endParaRPr b="0" lang="en-IN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latin typeface="Arial"/>
              </a:rPr>
              <a:t>Sixth Outline Level</a:t>
            </a:r>
            <a:endParaRPr b="0" lang="en-IN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latin typeface="Arial"/>
              </a:rPr>
              <a:t>Seventh Outline Level</a:t>
            </a:r>
            <a:endParaRPr b="0" lang="en-IN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  <p:sldLayoutId id="2147483660" r:id="rId16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57;p14" descr=""/>
          <p:cNvPicPr/>
          <p:nvPr/>
        </p:nvPicPr>
        <p:blipFill>
          <a:blip r:embed="rId2"/>
          <a:stretch/>
        </p:blipFill>
        <p:spPr>
          <a:xfrm>
            <a:off x="720" y="0"/>
            <a:ext cx="9141120" cy="5142600"/>
          </a:xfrm>
          <a:prstGeom prst="rect">
            <a:avLst/>
          </a:prstGeom>
          <a:ln>
            <a:noFill/>
          </a:ln>
        </p:spPr>
      </p:pic>
      <p:sp>
        <p:nvSpPr>
          <p:cNvPr id="49" name="CustomShape 1"/>
          <p:cNvSpPr/>
          <p:nvPr/>
        </p:nvSpPr>
        <p:spPr>
          <a:xfrm>
            <a:off x="343080" y="4857840"/>
            <a:ext cx="3067560" cy="189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pc="-1" strike="noStrike">
                <a:solidFill>
                  <a:srgbClr val="000000"/>
                </a:solidFill>
                <a:latin typeface="Calibri"/>
                <a:ea typeface="Calibri"/>
              </a:rPr>
              <a:t>©VVDN Technologies 2024 | Confidential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50" name="CustomShape 2"/>
          <p:cNvSpPr/>
          <p:nvPr/>
        </p:nvSpPr>
        <p:spPr>
          <a:xfrm>
            <a:off x="7825680" y="4857840"/>
            <a:ext cx="1027440" cy="195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pc="-1" strike="noStrike">
                <a:solidFill>
                  <a:srgbClr val="000000"/>
                </a:solidFill>
                <a:latin typeface="Calibri"/>
                <a:ea typeface="Calibri"/>
              </a:rPr>
              <a:t>www.vvdntech.com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51" name="CustomShape 3"/>
          <p:cNvSpPr/>
          <p:nvPr/>
        </p:nvSpPr>
        <p:spPr>
          <a:xfrm>
            <a:off x="4477680" y="4868640"/>
            <a:ext cx="474120" cy="229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pc="-1" strike="noStrike">
                <a:solidFill>
                  <a:srgbClr val="000000"/>
                </a:solidFill>
                <a:latin typeface="Calibri"/>
                <a:ea typeface="Calibri"/>
              </a:rPr>
              <a:t>-</a:t>
            </a:r>
            <a:fld id="{BE2A4E3C-51BF-4A1A-A72F-E654F0F62E67}" type="slidenum">
              <a:rPr b="0" lang="en" sz="800" spc="-1" strike="noStrike">
                <a:solidFill>
                  <a:srgbClr val="000000"/>
                </a:solidFill>
                <a:latin typeface="Calibri"/>
                <a:ea typeface="Calibri"/>
              </a:rPr>
              <a:t>&lt;number&gt;</a:t>
            </a:fld>
            <a:r>
              <a:rPr b="0" lang="en" sz="800" spc="-1" strike="noStrike">
                <a:solidFill>
                  <a:srgbClr val="000000"/>
                </a:solidFill>
                <a:latin typeface="Calibri"/>
                <a:ea typeface="Calibri"/>
              </a:rPr>
              <a:t>-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52" name="CustomShape 4"/>
          <p:cNvSpPr/>
          <p:nvPr/>
        </p:nvSpPr>
        <p:spPr>
          <a:xfrm>
            <a:off x="444600" y="176400"/>
            <a:ext cx="1155960" cy="80640"/>
          </a:xfrm>
          <a:prstGeom prst="rect">
            <a:avLst/>
          </a:prstGeom>
          <a:solidFill>
            <a:srgbClr val="003761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53" name="Google Shape;81;p18" descr=""/>
          <p:cNvPicPr/>
          <p:nvPr/>
        </p:nvPicPr>
        <p:blipFill>
          <a:blip r:embed="rId3"/>
          <a:stretch/>
        </p:blipFill>
        <p:spPr>
          <a:xfrm>
            <a:off x="0" y="0"/>
            <a:ext cx="9142920" cy="5142600"/>
          </a:xfrm>
          <a:prstGeom prst="rect">
            <a:avLst/>
          </a:prstGeom>
          <a:ln>
            <a:noFill/>
          </a:ln>
        </p:spPr>
      </p:pic>
      <p:sp>
        <p:nvSpPr>
          <p:cNvPr id="54" name="CustomShape 5"/>
          <p:cNvSpPr/>
          <p:nvPr/>
        </p:nvSpPr>
        <p:spPr>
          <a:xfrm rot="5400000">
            <a:off x="-3240" y="4129560"/>
            <a:ext cx="1155960" cy="8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" name="CustomShape 6"/>
          <p:cNvSpPr/>
          <p:nvPr/>
        </p:nvSpPr>
        <p:spPr>
          <a:xfrm>
            <a:off x="7825680" y="4857840"/>
            <a:ext cx="1027440" cy="195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pc="-1" strike="noStrike">
                <a:solidFill>
                  <a:srgbClr val="ffffff"/>
                </a:solidFill>
                <a:latin typeface="Calibri"/>
                <a:ea typeface="Calibri"/>
              </a:rPr>
              <a:t>www.vvdntech.com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56" name="CustomShape 7"/>
          <p:cNvSpPr/>
          <p:nvPr/>
        </p:nvSpPr>
        <p:spPr>
          <a:xfrm>
            <a:off x="4477680" y="4868640"/>
            <a:ext cx="474120" cy="229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pc="-1" strike="noStrike">
                <a:solidFill>
                  <a:srgbClr val="ffffff"/>
                </a:solidFill>
                <a:latin typeface="Calibri"/>
                <a:ea typeface="Calibri"/>
              </a:rPr>
              <a:t>-</a:t>
            </a:r>
            <a:fld id="{7EFDE334-8581-43A2-A400-F9E95A51948E}" type="slidenum">
              <a:rPr b="0" lang="en" sz="800" spc="-1" strike="noStrike">
                <a:solidFill>
                  <a:srgbClr val="ffffff"/>
                </a:solidFill>
                <a:latin typeface="Calibri"/>
                <a:ea typeface="Calibri"/>
              </a:rPr>
              <a:t>&lt;number&gt;</a:t>
            </a:fld>
            <a:r>
              <a:rPr b="0" lang="en" sz="800" spc="-1" strike="noStrike">
                <a:solidFill>
                  <a:srgbClr val="ffffff"/>
                </a:solidFill>
                <a:latin typeface="Calibri"/>
                <a:ea typeface="Calibri"/>
              </a:rPr>
              <a:t>-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57" name="CustomShape 8"/>
          <p:cNvSpPr/>
          <p:nvPr/>
        </p:nvSpPr>
        <p:spPr>
          <a:xfrm>
            <a:off x="395280" y="4828680"/>
            <a:ext cx="3067560" cy="189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pc="-1" strike="noStrike">
                <a:solidFill>
                  <a:srgbClr val="ffffff"/>
                </a:solidFill>
                <a:latin typeface="Calibri"/>
                <a:ea typeface="Calibri"/>
              </a:rPr>
              <a:t>©VVDN Technologies 2024 | Confidential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58" name="CustomShape 9"/>
          <p:cNvSpPr/>
          <p:nvPr/>
        </p:nvSpPr>
        <p:spPr>
          <a:xfrm>
            <a:off x="7825680" y="4857840"/>
            <a:ext cx="1027440" cy="195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pc="-1" strike="noStrike">
                <a:solidFill>
                  <a:srgbClr val="ffffff"/>
                </a:solidFill>
                <a:latin typeface="Calibri"/>
                <a:ea typeface="Calibri"/>
              </a:rPr>
              <a:t>www.vvdntech.com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59" name="CustomShape 10"/>
          <p:cNvSpPr/>
          <p:nvPr/>
        </p:nvSpPr>
        <p:spPr>
          <a:xfrm>
            <a:off x="4477680" y="4868640"/>
            <a:ext cx="474120" cy="229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pc="-1" strike="noStrike">
                <a:solidFill>
                  <a:srgbClr val="ffffff"/>
                </a:solidFill>
                <a:latin typeface="Calibri"/>
                <a:ea typeface="Calibri"/>
              </a:rPr>
              <a:t>-</a:t>
            </a:r>
            <a:fld id="{88C1411D-B94A-4EFD-AA17-75B1B9AD0866}" type="slidenum">
              <a:rPr b="0" lang="en" sz="800" spc="-1" strike="noStrike">
                <a:solidFill>
                  <a:srgbClr val="ffffff"/>
                </a:solidFill>
                <a:latin typeface="Calibri"/>
                <a:ea typeface="Calibri"/>
              </a:rPr>
              <a:t>&lt;number&gt;</a:t>
            </a:fld>
            <a:r>
              <a:rPr b="0" lang="en" sz="800" spc="-1" strike="noStrike">
                <a:solidFill>
                  <a:srgbClr val="ffffff"/>
                </a:solidFill>
                <a:latin typeface="Calibri"/>
                <a:ea typeface="Calibri"/>
              </a:rPr>
              <a:t>-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60" name="PlaceHolder 1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IN" sz="4400" spc="-1" strike="noStrike">
                <a:latin typeface="Arial"/>
              </a:rPr>
              <a:t>Click to </a:t>
            </a:r>
            <a:r>
              <a:rPr b="0" lang="en-IN" sz="4400" spc="-1" strike="noStrike">
                <a:latin typeface="Arial"/>
              </a:rPr>
              <a:t>edit the </a:t>
            </a:r>
            <a:r>
              <a:rPr b="0" lang="en-IN" sz="4400" spc="-1" strike="noStrike">
                <a:latin typeface="Arial"/>
              </a:rPr>
              <a:t>title text </a:t>
            </a:r>
            <a:r>
              <a:rPr b="0" lang="en-IN" sz="4400" spc="-1" strike="noStrike">
                <a:latin typeface="Arial"/>
              </a:rPr>
              <a:t>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61" name="PlaceHolder 1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57;p14" descr=""/>
          <p:cNvPicPr/>
          <p:nvPr/>
        </p:nvPicPr>
        <p:blipFill>
          <a:blip r:embed="rId2"/>
          <a:stretch/>
        </p:blipFill>
        <p:spPr>
          <a:xfrm>
            <a:off x="720" y="0"/>
            <a:ext cx="9141120" cy="5142600"/>
          </a:xfrm>
          <a:prstGeom prst="rect">
            <a:avLst/>
          </a:prstGeom>
          <a:ln>
            <a:noFill/>
          </a:ln>
        </p:spPr>
      </p:pic>
      <p:sp>
        <p:nvSpPr>
          <p:cNvPr id="99" name="CustomShape 1"/>
          <p:cNvSpPr/>
          <p:nvPr/>
        </p:nvSpPr>
        <p:spPr>
          <a:xfrm>
            <a:off x="343080" y="4857840"/>
            <a:ext cx="3067560" cy="189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pc="-1" strike="noStrike">
                <a:solidFill>
                  <a:srgbClr val="000000"/>
                </a:solidFill>
                <a:latin typeface="Calibri"/>
                <a:ea typeface="Calibri"/>
              </a:rPr>
              <a:t>©VVDN Technologies 2024 | Confidential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00" name="CustomShape 2"/>
          <p:cNvSpPr/>
          <p:nvPr/>
        </p:nvSpPr>
        <p:spPr>
          <a:xfrm>
            <a:off x="7825680" y="4857840"/>
            <a:ext cx="1027440" cy="195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pc="-1" strike="noStrike">
                <a:solidFill>
                  <a:srgbClr val="000000"/>
                </a:solidFill>
                <a:latin typeface="Calibri"/>
                <a:ea typeface="Calibri"/>
              </a:rPr>
              <a:t>www.vvdntech.com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01" name="CustomShape 3"/>
          <p:cNvSpPr/>
          <p:nvPr/>
        </p:nvSpPr>
        <p:spPr>
          <a:xfrm>
            <a:off x="4477680" y="4868640"/>
            <a:ext cx="474120" cy="229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pc="-1" strike="noStrike">
                <a:solidFill>
                  <a:srgbClr val="000000"/>
                </a:solidFill>
                <a:latin typeface="Calibri"/>
                <a:ea typeface="Calibri"/>
              </a:rPr>
              <a:t>-</a:t>
            </a:r>
            <a:fld id="{A525823E-05D7-45D2-8D88-3A96556055B9}" type="slidenum">
              <a:rPr b="0" lang="en" sz="800" spc="-1" strike="noStrike">
                <a:solidFill>
                  <a:srgbClr val="000000"/>
                </a:solidFill>
                <a:latin typeface="Calibri"/>
                <a:ea typeface="Calibri"/>
              </a:rPr>
              <a:t>&lt;number&gt;</a:t>
            </a:fld>
            <a:r>
              <a:rPr b="0" lang="en" sz="800" spc="-1" strike="noStrike">
                <a:solidFill>
                  <a:srgbClr val="000000"/>
                </a:solidFill>
                <a:latin typeface="Calibri"/>
                <a:ea typeface="Calibri"/>
              </a:rPr>
              <a:t>-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02" name="CustomShape 4"/>
          <p:cNvSpPr/>
          <p:nvPr/>
        </p:nvSpPr>
        <p:spPr>
          <a:xfrm>
            <a:off x="444600" y="176400"/>
            <a:ext cx="1155960" cy="80640"/>
          </a:xfrm>
          <a:prstGeom prst="rect">
            <a:avLst/>
          </a:prstGeom>
          <a:solidFill>
            <a:srgbClr val="003761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PlaceHolder 5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IN" sz="4400" spc="-1" strike="noStrike">
                <a:latin typeface="Arial"/>
              </a:rPr>
              <a:t>Click to </a:t>
            </a:r>
            <a:r>
              <a:rPr b="0" lang="en-IN" sz="4400" spc="-1" strike="noStrike">
                <a:latin typeface="Arial"/>
              </a:rPr>
              <a:t>edit the </a:t>
            </a:r>
            <a:r>
              <a:rPr b="0" lang="en-IN" sz="4400" spc="-1" strike="noStrike">
                <a:latin typeface="Arial"/>
              </a:rPr>
              <a:t>title text </a:t>
            </a:r>
            <a:r>
              <a:rPr b="0" lang="en-IN" sz="4400" spc="-1" strike="noStrike">
                <a:latin typeface="Arial"/>
              </a:rPr>
              <a:t>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04" name="PlaceHolder 6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2;p28" descr=""/>
          <p:cNvPicPr/>
          <p:nvPr/>
        </p:nvPicPr>
        <p:blipFill>
          <a:blip r:embed="rId2"/>
          <a:stretch/>
        </p:blipFill>
        <p:spPr>
          <a:xfrm>
            <a:off x="720" y="0"/>
            <a:ext cx="9141120" cy="5142600"/>
          </a:xfrm>
          <a:prstGeom prst="rect">
            <a:avLst/>
          </a:prstGeom>
          <a:ln>
            <a:noFill/>
          </a:ln>
        </p:spPr>
      </p:pic>
      <p:sp>
        <p:nvSpPr>
          <p:cNvPr id="142" name="CustomShape 1"/>
          <p:cNvSpPr/>
          <p:nvPr/>
        </p:nvSpPr>
        <p:spPr>
          <a:xfrm>
            <a:off x="343080" y="4857840"/>
            <a:ext cx="3067560" cy="189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pc="-1" strike="noStrike">
                <a:solidFill>
                  <a:srgbClr val="000000"/>
                </a:solidFill>
                <a:latin typeface="Calibri"/>
                <a:ea typeface="Calibri"/>
              </a:rPr>
              <a:t>©VVDN Technologies 2020 | Confidential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43" name="CustomShape 2"/>
          <p:cNvSpPr/>
          <p:nvPr/>
        </p:nvSpPr>
        <p:spPr>
          <a:xfrm>
            <a:off x="7825680" y="4857840"/>
            <a:ext cx="1027440" cy="183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pc="-1" strike="noStrike">
                <a:solidFill>
                  <a:srgbClr val="000000"/>
                </a:solidFill>
                <a:latin typeface="Calibri"/>
                <a:ea typeface="Calibri"/>
              </a:rPr>
              <a:t>www.vvdntech.com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44" name="CustomShape 3"/>
          <p:cNvSpPr/>
          <p:nvPr/>
        </p:nvSpPr>
        <p:spPr>
          <a:xfrm>
            <a:off x="4477680" y="4868640"/>
            <a:ext cx="474480" cy="229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pc="-1" strike="noStrike">
                <a:solidFill>
                  <a:srgbClr val="000000"/>
                </a:solidFill>
                <a:latin typeface="Calibri"/>
                <a:ea typeface="Calibri"/>
              </a:rPr>
              <a:t>-</a:t>
            </a:r>
            <a:fld id="{864E50F0-250D-425A-A5D2-1A0E6E035593}" type="slidenum">
              <a:rPr b="0" lang="en" sz="800" spc="-1" strike="noStrike">
                <a:solidFill>
                  <a:srgbClr val="000000"/>
                </a:solidFill>
                <a:latin typeface="Calibri"/>
                <a:ea typeface="Calibri"/>
              </a:rPr>
              <a:t>&lt;number&gt;</a:t>
            </a:fld>
            <a:r>
              <a:rPr b="0" lang="en" sz="800" spc="-1" strike="noStrike">
                <a:solidFill>
                  <a:srgbClr val="000000"/>
                </a:solidFill>
                <a:latin typeface="Calibri"/>
                <a:ea typeface="Calibri"/>
              </a:rPr>
              <a:t>-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45" name="CustomShape 4"/>
          <p:cNvSpPr/>
          <p:nvPr/>
        </p:nvSpPr>
        <p:spPr>
          <a:xfrm>
            <a:off x="444600" y="176400"/>
            <a:ext cx="1155960" cy="81000"/>
          </a:xfrm>
          <a:prstGeom prst="rect">
            <a:avLst/>
          </a:prstGeom>
          <a:solidFill>
            <a:srgbClr val="003761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6" name="CustomShape 5"/>
          <p:cNvSpPr/>
          <p:nvPr/>
        </p:nvSpPr>
        <p:spPr>
          <a:xfrm>
            <a:off x="0" y="4332600"/>
            <a:ext cx="9021960" cy="38376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0b1ff"/>
              </a:gs>
              <a:gs pos="100000">
                <a:srgbClr val="1957e0"/>
              </a:gs>
            </a:gsLst>
            <a:lin ang="10800000"/>
          </a:gradFill>
          <a:ln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47" name="Group 6"/>
          <p:cNvGrpSpPr/>
          <p:nvPr/>
        </p:nvGrpSpPr>
        <p:grpSpPr>
          <a:xfrm>
            <a:off x="1794240" y="2316600"/>
            <a:ext cx="5554080" cy="1108800"/>
            <a:chOff x="1794240" y="2316600"/>
            <a:chExt cx="5554080" cy="1108800"/>
          </a:xfrm>
        </p:grpSpPr>
        <p:sp>
          <p:nvSpPr>
            <p:cNvPr id="148" name="CustomShape 7"/>
            <p:cNvSpPr/>
            <p:nvPr/>
          </p:nvSpPr>
          <p:spPr>
            <a:xfrm>
              <a:off x="2200320" y="2316600"/>
              <a:ext cx="4742280" cy="833760"/>
            </a:xfrm>
            <a:prstGeom prst="roundRect">
              <a:avLst>
                <a:gd name="adj" fmla="val 19744"/>
              </a:avLst>
            </a:prstGeom>
            <a:solidFill>
              <a:srgbClr val="ffffff"/>
            </a:solidFill>
            <a:ln>
              <a:noFill/>
            </a:ln>
            <a:effectLst>
              <a:outerShdw dir="0" dist="12600">
                <a:srgbClr val="888888">
                  <a:alpha val="4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</p:sp>
        <p:sp>
          <p:nvSpPr>
            <p:cNvPr id="149" name="CustomShape 8"/>
            <p:cNvSpPr/>
            <p:nvPr/>
          </p:nvSpPr>
          <p:spPr>
            <a:xfrm>
              <a:off x="2361600" y="2430360"/>
              <a:ext cx="4357800" cy="43740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>
              <a:noAutofit/>
            </a:bodyPr>
            <a:p>
              <a:pPr algn="ctr">
                <a:lnSpc>
                  <a:spcPct val="125000"/>
                </a:lnSpc>
                <a:tabLst>
                  <a:tab algn="l" pos="0"/>
                </a:tabLst>
              </a:pPr>
              <a:r>
                <a:rPr b="0" lang="en" sz="1200" spc="-1" strike="noStrike">
                  <a:solidFill>
                    <a:srgbClr val="004376"/>
                  </a:solidFill>
                  <a:latin typeface="Montserrat ExtraBold"/>
                  <a:ea typeface="Montserrat ExtraBold"/>
                </a:rPr>
                <a:t>CREATE. INNOVATE. PRODUCE</a:t>
              </a:r>
              <a:endParaRPr b="0" lang="en-IN" sz="1200" spc="-1" strike="noStrike">
                <a:latin typeface="Arial"/>
              </a:endParaRPr>
            </a:p>
            <a:p>
              <a:pPr algn="ctr">
                <a:lnSpc>
                  <a:spcPct val="125000"/>
                </a:lnSpc>
                <a:tabLst>
                  <a:tab algn="l" pos="0"/>
                </a:tabLst>
              </a:pPr>
              <a:r>
                <a:rPr b="0" lang="en" sz="1200" spc="-1" strike="noStrike">
                  <a:solidFill>
                    <a:srgbClr val="004376"/>
                  </a:solidFill>
                  <a:latin typeface="Montserrat ExtraBold"/>
                  <a:ea typeface="Montserrat ExtraBold"/>
                </a:rPr>
                <a:t>#WEMAKEITHAPPEN</a:t>
              </a:r>
              <a:endParaRPr b="0" lang="en-IN" sz="1200" spc="-1" strike="noStrike">
                <a:latin typeface="Arial"/>
              </a:endParaRPr>
            </a:p>
          </p:txBody>
        </p:sp>
        <p:sp>
          <p:nvSpPr>
            <p:cNvPr id="150" name="CustomShape 9"/>
            <p:cNvSpPr/>
            <p:nvPr/>
          </p:nvSpPr>
          <p:spPr>
            <a:xfrm>
              <a:off x="1895400" y="2921400"/>
              <a:ext cx="5352120" cy="504000"/>
            </a:xfrm>
            <a:prstGeom prst="roundRect">
              <a:avLst>
                <a:gd name="adj" fmla="val 19744"/>
              </a:avLst>
            </a:prstGeom>
            <a:gradFill rotWithShape="0">
              <a:gsLst>
                <a:gs pos="0">
                  <a:srgbClr val="00b2ff"/>
                </a:gs>
                <a:gs pos="100000">
                  <a:srgbClr val="1957e0"/>
                </a:gs>
              </a:gsLst>
              <a:lin ang="10800000"/>
            </a:gradFill>
            <a:ln>
              <a:noFill/>
            </a:ln>
            <a:effectLst>
              <a:outerShdw dir="0" dist="12600">
                <a:srgbClr val="3f3f3f">
                  <a:alpha val="4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</p:sp>
        <p:sp>
          <p:nvSpPr>
            <p:cNvPr id="151" name="CustomShape 10"/>
            <p:cNvSpPr/>
            <p:nvPr/>
          </p:nvSpPr>
          <p:spPr>
            <a:xfrm>
              <a:off x="1794240" y="3043440"/>
              <a:ext cx="5554080" cy="25308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1" lang="en" sz="1200" spc="-1" strike="noStrike">
                  <a:solidFill>
                    <a:srgbClr val="ffffff"/>
                  </a:solidFill>
                  <a:latin typeface="Montserrat ExtraBold"/>
                  <a:ea typeface="Montserrat ExtraBold"/>
                </a:rPr>
                <a:t>Premier Electronics Engineering &amp; Manufacturing Company</a:t>
              </a:r>
              <a:endParaRPr b="0" lang="en-IN" sz="1200" spc="-1" strike="noStrike">
                <a:latin typeface="Arial"/>
              </a:endParaRPr>
            </a:p>
          </p:txBody>
        </p:sp>
      </p:grpSp>
      <p:pic>
        <p:nvPicPr>
          <p:cNvPr id="152" name="Google Shape;182;p34" descr=""/>
          <p:cNvPicPr/>
          <p:nvPr/>
        </p:nvPicPr>
        <p:blipFill>
          <a:blip r:embed="rId3"/>
          <a:stretch/>
        </p:blipFill>
        <p:spPr>
          <a:xfrm>
            <a:off x="399960" y="4479480"/>
            <a:ext cx="124560" cy="124200"/>
          </a:xfrm>
          <a:prstGeom prst="rect">
            <a:avLst/>
          </a:prstGeom>
          <a:ln>
            <a:noFill/>
          </a:ln>
        </p:spPr>
      </p:pic>
      <p:sp>
        <p:nvSpPr>
          <p:cNvPr id="153" name="CustomShape 11"/>
          <p:cNvSpPr/>
          <p:nvPr/>
        </p:nvSpPr>
        <p:spPr>
          <a:xfrm>
            <a:off x="484560" y="4424040"/>
            <a:ext cx="1371960" cy="402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100" spc="-1" strike="noStrike">
                <a:solidFill>
                  <a:srgbClr val="ffffff"/>
                </a:solidFill>
                <a:latin typeface="Lato"/>
                <a:ea typeface="Lato"/>
              </a:rPr>
              <a:t>/</a:t>
            </a:r>
            <a:r>
              <a:rPr b="0" lang="en" sz="1100" spc="-1" strike="noStrike">
                <a:solidFill>
                  <a:srgbClr val="ffffff"/>
                </a:solidFill>
                <a:latin typeface="Calibri"/>
                <a:ea typeface="Calibri"/>
              </a:rPr>
              <a:t>vvdn-technologies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54" name="CustomShape 12"/>
          <p:cNvSpPr/>
          <p:nvPr/>
        </p:nvSpPr>
        <p:spPr>
          <a:xfrm>
            <a:off x="2286360" y="4419000"/>
            <a:ext cx="1337040" cy="402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100" spc="-1" strike="noStrike">
                <a:solidFill>
                  <a:srgbClr val="ffffff"/>
                </a:solidFill>
                <a:latin typeface="Lato"/>
                <a:ea typeface="Lato"/>
              </a:rPr>
              <a:t>/</a:t>
            </a:r>
            <a:r>
              <a:rPr b="0" lang="en" sz="1100" spc="-1" strike="noStrike">
                <a:solidFill>
                  <a:srgbClr val="ffffff"/>
                </a:solidFill>
                <a:latin typeface="Calibri"/>
                <a:ea typeface="Calibri"/>
              </a:rPr>
              <a:t>vvdn-technologies</a:t>
            </a:r>
            <a:endParaRPr b="0" lang="en-IN" sz="1100" spc="-1" strike="noStrike">
              <a:latin typeface="Arial"/>
            </a:endParaRPr>
          </a:p>
        </p:txBody>
      </p:sp>
      <p:pic>
        <p:nvPicPr>
          <p:cNvPr id="155" name="Google Shape;185;p34" descr=""/>
          <p:cNvPicPr/>
          <p:nvPr/>
        </p:nvPicPr>
        <p:blipFill>
          <a:blip r:embed="rId4"/>
          <a:stretch/>
        </p:blipFill>
        <p:spPr>
          <a:xfrm>
            <a:off x="2077920" y="4443840"/>
            <a:ext cx="243360" cy="167040"/>
          </a:xfrm>
          <a:prstGeom prst="rect">
            <a:avLst/>
          </a:prstGeom>
          <a:ln>
            <a:noFill/>
          </a:ln>
        </p:spPr>
      </p:pic>
      <p:pic>
        <p:nvPicPr>
          <p:cNvPr id="156" name="Google Shape;186;p34" descr=""/>
          <p:cNvPicPr/>
          <p:nvPr/>
        </p:nvPicPr>
        <p:blipFill>
          <a:blip r:embed="rId5"/>
          <a:stretch/>
        </p:blipFill>
        <p:spPr>
          <a:xfrm>
            <a:off x="5587920" y="4462920"/>
            <a:ext cx="64440" cy="119880"/>
          </a:xfrm>
          <a:prstGeom prst="rect">
            <a:avLst/>
          </a:prstGeom>
          <a:ln>
            <a:noFill/>
          </a:ln>
        </p:spPr>
      </p:pic>
      <p:sp>
        <p:nvSpPr>
          <p:cNvPr id="157" name="CustomShape 13"/>
          <p:cNvSpPr/>
          <p:nvPr/>
        </p:nvSpPr>
        <p:spPr>
          <a:xfrm>
            <a:off x="5620320" y="4414320"/>
            <a:ext cx="1320120" cy="402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100" spc="-1" strike="noStrike">
                <a:solidFill>
                  <a:srgbClr val="ffffff"/>
                </a:solidFill>
                <a:latin typeface="Lato"/>
                <a:ea typeface="Lato"/>
              </a:rPr>
              <a:t>/</a:t>
            </a:r>
            <a:r>
              <a:rPr b="0" lang="en" sz="1100" spc="-1" strike="noStrike">
                <a:solidFill>
                  <a:srgbClr val="ffffff"/>
                </a:solidFill>
                <a:latin typeface="Calibri"/>
                <a:ea typeface="Calibri"/>
              </a:rPr>
              <a:t>vvdn-technologies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58" name="CustomShape 14"/>
          <p:cNvSpPr/>
          <p:nvPr/>
        </p:nvSpPr>
        <p:spPr>
          <a:xfrm>
            <a:off x="7343640" y="4402800"/>
            <a:ext cx="1429200" cy="402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100" spc="-1" strike="noStrike">
                <a:solidFill>
                  <a:srgbClr val="ffffff"/>
                </a:solidFill>
                <a:latin typeface="Lato"/>
                <a:ea typeface="Lato"/>
              </a:rPr>
              <a:t>/</a:t>
            </a:r>
            <a:r>
              <a:rPr b="0" lang="en" sz="1100" spc="-1" strike="noStrike">
                <a:solidFill>
                  <a:srgbClr val="ffffff"/>
                </a:solidFill>
                <a:latin typeface="Calibri"/>
                <a:ea typeface="Calibri"/>
              </a:rPr>
              <a:t>vvdn-technologies</a:t>
            </a:r>
            <a:endParaRPr b="0" lang="en-IN" sz="1100" spc="-1" strike="noStrike">
              <a:latin typeface="Arial"/>
            </a:endParaRPr>
          </a:p>
        </p:txBody>
      </p:sp>
      <p:pic>
        <p:nvPicPr>
          <p:cNvPr id="159" name="Google Shape;189;p34" descr=""/>
          <p:cNvPicPr/>
          <p:nvPr/>
        </p:nvPicPr>
        <p:blipFill>
          <a:blip r:embed="rId6"/>
          <a:stretch/>
        </p:blipFill>
        <p:spPr>
          <a:xfrm>
            <a:off x="7203960" y="4457160"/>
            <a:ext cx="170640" cy="140400"/>
          </a:xfrm>
          <a:prstGeom prst="rect">
            <a:avLst/>
          </a:prstGeom>
          <a:ln>
            <a:noFill/>
          </a:ln>
        </p:spPr>
      </p:pic>
      <p:sp>
        <p:nvSpPr>
          <p:cNvPr id="160" name="CustomShape 15"/>
          <p:cNvSpPr/>
          <p:nvPr/>
        </p:nvSpPr>
        <p:spPr>
          <a:xfrm>
            <a:off x="3928680" y="4422240"/>
            <a:ext cx="1419120" cy="402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" sz="1100" spc="-1" strike="noStrike">
                <a:solidFill>
                  <a:srgbClr val="ffffff"/>
                </a:solidFill>
                <a:latin typeface="Calibri"/>
                <a:ea typeface="Calibri"/>
              </a:rPr>
              <a:t>www.vvdntech.com</a:t>
            </a:r>
            <a:endParaRPr b="0" lang="en-IN" sz="1100" spc="-1" strike="noStrike">
              <a:latin typeface="Arial"/>
            </a:endParaRPr>
          </a:p>
        </p:txBody>
      </p:sp>
      <p:pic>
        <p:nvPicPr>
          <p:cNvPr id="161" name="Google Shape;191;p34" descr=""/>
          <p:cNvPicPr/>
          <p:nvPr/>
        </p:nvPicPr>
        <p:blipFill>
          <a:blip r:embed="rId7"/>
          <a:stretch/>
        </p:blipFill>
        <p:spPr>
          <a:xfrm>
            <a:off x="3843720" y="4451760"/>
            <a:ext cx="192600" cy="192600"/>
          </a:xfrm>
          <a:prstGeom prst="rect">
            <a:avLst/>
          </a:prstGeom>
          <a:ln>
            <a:noFill/>
          </a:ln>
        </p:spPr>
      </p:pic>
      <p:pic>
        <p:nvPicPr>
          <p:cNvPr id="162" name="Google Shape;192;p34" descr=""/>
          <p:cNvPicPr/>
          <p:nvPr/>
        </p:nvPicPr>
        <p:blipFill>
          <a:blip r:embed="rId8"/>
          <a:stretch/>
        </p:blipFill>
        <p:spPr>
          <a:xfrm>
            <a:off x="2650680" y="632520"/>
            <a:ext cx="3841920" cy="1334880"/>
          </a:xfrm>
          <a:prstGeom prst="rect">
            <a:avLst/>
          </a:prstGeom>
          <a:ln>
            <a:noFill/>
          </a:ln>
        </p:spPr>
      </p:pic>
      <p:sp>
        <p:nvSpPr>
          <p:cNvPr id="163" name="CustomShape 16"/>
          <p:cNvSpPr/>
          <p:nvPr/>
        </p:nvSpPr>
        <p:spPr>
          <a:xfrm>
            <a:off x="364320" y="101520"/>
            <a:ext cx="1429200" cy="25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4" name="PlaceHolder 17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IN" sz="4400" spc="-1" strike="noStrike">
                <a:latin typeface="Arial"/>
              </a:rPr>
              <a:t>Click to edit the 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65" name="PlaceHolder 18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  <p:sldLayoutId id="2147483696" r:id="rId17"/>
    <p:sldLayoutId id="2147483697" r:id="rId18"/>
    <p:sldLayoutId id="2147483698" r:id="rId19"/>
    <p:sldLayoutId id="2147483699" r:id="rId20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2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slideLayout" Target="../slideLayouts/slideLayout2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slideLayout" Target="../slideLayouts/slideLayout2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2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23.wmf"/><Relationship Id="rId3" Type="http://schemas.openxmlformats.org/officeDocument/2006/relationships/image" Target="../media/image24.png"/><Relationship Id="rId4" Type="http://schemas.openxmlformats.org/officeDocument/2006/relationships/slideLayout" Target="../slideLayouts/slideLayout2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25.wmf"/><Relationship Id="rId3" Type="http://schemas.openxmlformats.org/officeDocument/2006/relationships/slideLayout" Target="../slideLayouts/slideLayout2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26.wmf"/><Relationship Id="rId3" Type="http://schemas.openxmlformats.org/officeDocument/2006/relationships/slideLayout" Target="../slideLayouts/slideLayout2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2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CustomShape 1"/>
          <p:cNvSpPr/>
          <p:nvPr/>
        </p:nvSpPr>
        <p:spPr>
          <a:xfrm>
            <a:off x="5560920" y="3695040"/>
            <a:ext cx="1778760" cy="227880"/>
          </a:xfrm>
          <a:prstGeom prst="rect">
            <a:avLst/>
          </a:prstGeom>
          <a:noFill/>
          <a:ln w="9360">
            <a:solidFill>
              <a:srgbClr val="0050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>
            <a:norm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en" sz="800" spc="-1" strike="noStrike">
                <a:solidFill>
                  <a:srgbClr val="ffffff"/>
                </a:solidFill>
                <a:latin typeface="Calibri"/>
                <a:ea typeface="Calibri"/>
              </a:rPr>
              <a:t>FEB-2025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09" name="CustomShape 2"/>
          <p:cNvSpPr/>
          <p:nvPr/>
        </p:nvSpPr>
        <p:spPr>
          <a:xfrm>
            <a:off x="3357360" y="2432520"/>
            <a:ext cx="5785560" cy="70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>
            <a:noAutofit/>
          </a:bodyPr>
          <a:p>
            <a:pPr algn="ctr">
              <a:lnSpc>
                <a:spcPct val="90000"/>
              </a:lnSpc>
              <a:tabLst>
                <a:tab algn="l" pos="0"/>
              </a:tabLst>
            </a:pPr>
            <a:br/>
            <a:r>
              <a:rPr b="0" lang="en" sz="1600" spc="-1" strike="noStrike">
                <a:solidFill>
                  <a:srgbClr val="ffffff"/>
                </a:solidFill>
                <a:latin typeface="Montserrat Black"/>
                <a:ea typeface="Montserrat Black"/>
              </a:rPr>
              <a:t> </a:t>
            </a:r>
            <a:r>
              <a:rPr b="0" lang="en" sz="1600" spc="-1" strike="noStrike">
                <a:solidFill>
                  <a:srgbClr val="ffffff"/>
                </a:solidFill>
                <a:latin typeface="Montserrat Black"/>
                <a:ea typeface="Montserrat Black"/>
              </a:rPr>
              <a:t>VVDN DEVOPS CI&amp;CD</a:t>
            </a:r>
            <a:endParaRPr b="0" lang="en-IN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CustomShape 1"/>
          <p:cNvSpPr/>
          <p:nvPr/>
        </p:nvSpPr>
        <p:spPr>
          <a:xfrm>
            <a:off x="543960" y="3134160"/>
            <a:ext cx="5914080" cy="1161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br/>
            <a:br/>
            <a:br/>
            <a:endParaRPr b="0" lang="en-IN" sz="1800" spc="-1" strike="noStrike">
              <a:latin typeface="Arial"/>
            </a:endParaRPr>
          </a:p>
        </p:txBody>
      </p:sp>
      <p:sp>
        <p:nvSpPr>
          <p:cNvPr id="211" name="CustomShape 2"/>
          <p:cNvSpPr/>
          <p:nvPr/>
        </p:nvSpPr>
        <p:spPr>
          <a:xfrm>
            <a:off x="543960" y="3584880"/>
            <a:ext cx="4061520" cy="1411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1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DevOps CI&amp;CD </a:t>
            </a:r>
            <a:br/>
            <a:br/>
            <a:r>
              <a:rPr b="1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presented BY </a:t>
            </a:r>
            <a:br/>
            <a:r>
              <a:rPr b="1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                           Antonykavinkumar w 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CustomShape 1"/>
          <p:cNvSpPr/>
          <p:nvPr/>
        </p:nvSpPr>
        <p:spPr>
          <a:xfrm>
            <a:off x="0" y="573480"/>
            <a:ext cx="8783280" cy="5042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br/>
            <a:r>
              <a:rPr b="1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SDLC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           </a:t>
            </a: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The Software Development Life Cycle (SDLC) is a systematic process used for </a:t>
            </a:r>
            <a:r>
              <a:rPr b="1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Requirment analysis</a:t>
            </a: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, </a:t>
            </a:r>
            <a:r>
              <a:rPr b="1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planning</a:t>
            </a: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,</a:t>
            </a:r>
            <a:r>
              <a:rPr b="1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Coding</a:t>
            </a: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,T</a:t>
            </a:r>
            <a:r>
              <a:rPr b="1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esting</a:t>
            </a: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, </a:t>
            </a:r>
            <a:r>
              <a:rPr b="1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Deploying</a:t>
            </a: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, and </a:t>
            </a:r>
            <a:r>
              <a:rPr b="1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maintaining software applications</a:t>
            </a: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. It ensures high-quality software development with minimal risks and optimal efficiency.</a:t>
            </a:r>
            <a:br/>
            <a:br/>
            <a:br/>
            <a:br/>
            <a:br/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br/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</p:txBody>
      </p:sp>
      <p:sp>
        <p:nvSpPr>
          <p:cNvPr id="213" name="CustomShape 2"/>
          <p:cNvSpPr/>
          <p:nvPr/>
        </p:nvSpPr>
        <p:spPr>
          <a:xfrm>
            <a:off x="72000" y="143280"/>
            <a:ext cx="5903640" cy="429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15000"/>
              </a:lnSpc>
              <a:spcAft>
                <a:spcPts val="1500"/>
              </a:spcAft>
              <a:tabLst>
                <a:tab algn="l" pos="0"/>
              </a:tabLst>
            </a:pPr>
            <a:r>
              <a:rPr b="1" lang="en" sz="2100" spc="-1" strike="noStrike">
                <a:solidFill>
                  <a:srgbClr val="003761"/>
                </a:solidFill>
                <a:latin typeface="Times New Roman"/>
                <a:ea typeface="Times New Roman"/>
              </a:rPr>
              <a:t>Introduction SDLC</a:t>
            </a:r>
            <a:endParaRPr b="0" lang="en-IN" sz="2100" spc="-1" strike="noStrike">
              <a:latin typeface="Arial"/>
            </a:endParaRPr>
          </a:p>
        </p:txBody>
      </p:sp>
      <p:pic>
        <p:nvPicPr>
          <p:cNvPr id="214" name="" descr=""/>
          <p:cNvPicPr/>
          <p:nvPr/>
        </p:nvPicPr>
        <p:blipFill>
          <a:blip r:embed="rId1"/>
          <a:stretch/>
        </p:blipFill>
        <p:spPr>
          <a:xfrm rot="18024600">
            <a:off x="7560360" y="2040840"/>
            <a:ext cx="780480" cy="970920"/>
          </a:xfrm>
          <a:prstGeom prst="rect">
            <a:avLst/>
          </a:prstGeom>
          <a:ln>
            <a:noFill/>
          </a:ln>
        </p:spPr>
      </p:pic>
      <p:pic>
        <p:nvPicPr>
          <p:cNvPr id="215" name="" descr=""/>
          <p:cNvPicPr/>
          <p:nvPr/>
        </p:nvPicPr>
        <p:blipFill>
          <a:blip r:embed="rId2"/>
          <a:stretch/>
        </p:blipFill>
        <p:spPr>
          <a:xfrm>
            <a:off x="1944000" y="2448000"/>
            <a:ext cx="3383640" cy="23036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CustomShape 1"/>
          <p:cNvSpPr/>
          <p:nvPr/>
        </p:nvSpPr>
        <p:spPr>
          <a:xfrm>
            <a:off x="310320" y="90360"/>
            <a:ext cx="4513320" cy="701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15000"/>
              </a:lnSpc>
              <a:spcAft>
                <a:spcPts val="1500"/>
              </a:spcAft>
              <a:tabLst>
                <a:tab algn="l" pos="0"/>
              </a:tabLst>
            </a:pPr>
            <a:r>
              <a:rPr b="1" lang="en" sz="2100" spc="-1" strike="noStrike">
                <a:solidFill>
                  <a:srgbClr val="003761"/>
                </a:solidFill>
                <a:latin typeface="Times New Roman"/>
                <a:ea typeface="Times New Roman"/>
              </a:rPr>
              <a:t>PHASE OF SDLC</a:t>
            </a:r>
            <a:endParaRPr b="0" lang="en-IN" sz="2100" spc="-1" strike="noStrike">
              <a:latin typeface="Arial"/>
            </a:endParaRPr>
          </a:p>
        </p:txBody>
      </p:sp>
      <p:sp>
        <p:nvSpPr>
          <p:cNvPr id="217" name="CustomShape 2"/>
          <p:cNvSpPr/>
          <p:nvPr/>
        </p:nvSpPr>
        <p:spPr>
          <a:xfrm>
            <a:off x="216000" y="720000"/>
            <a:ext cx="8711280" cy="4103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8" name="CustomShape 3"/>
          <p:cNvSpPr/>
          <p:nvPr/>
        </p:nvSpPr>
        <p:spPr>
          <a:xfrm>
            <a:off x="216360" y="1080360"/>
            <a:ext cx="4607280" cy="2447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9" name="CustomShape 4"/>
          <p:cNvSpPr/>
          <p:nvPr/>
        </p:nvSpPr>
        <p:spPr>
          <a:xfrm>
            <a:off x="72000" y="601200"/>
            <a:ext cx="7588440" cy="4222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br/>
            <a:br/>
            <a:endParaRPr b="0" lang="en-IN" sz="1800" spc="-1" strike="noStrike">
              <a:latin typeface="Arial"/>
            </a:endParaRPr>
          </a:p>
        </p:txBody>
      </p:sp>
      <p:sp>
        <p:nvSpPr>
          <p:cNvPr id="220" name="CustomShape 5"/>
          <p:cNvSpPr/>
          <p:nvPr/>
        </p:nvSpPr>
        <p:spPr>
          <a:xfrm>
            <a:off x="0" y="700560"/>
            <a:ext cx="7588440" cy="4122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</p:txBody>
      </p:sp>
      <p:sp>
        <p:nvSpPr>
          <p:cNvPr id="221" name="CustomShape 6"/>
          <p:cNvSpPr/>
          <p:nvPr/>
        </p:nvSpPr>
        <p:spPr>
          <a:xfrm>
            <a:off x="0" y="729000"/>
            <a:ext cx="8783640" cy="4247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br/>
            <a:r>
              <a:rPr b="0" lang="en-IN" sz="1800" spc="-1" strike="noStrike">
                <a:latin typeface="Times New Roman"/>
              </a:rPr>
              <a:t>Requirement Analysis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latin typeface="Times New Roman"/>
              </a:rPr>
              <a:t>                         </a:t>
            </a:r>
            <a:r>
              <a:rPr b="0" lang="en-IN" sz="1800" spc="-1" strike="noStrike">
                <a:latin typeface="Times New Roman"/>
              </a:rPr>
              <a:t>Gather functional and non-functional requirements.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latin typeface="Times New Roman"/>
              </a:rPr>
              <a:t>                         </a:t>
            </a:r>
            <a:r>
              <a:rPr b="0" lang="en-IN" sz="1800" spc="-1" strike="noStrike">
                <a:latin typeface="Times New Roman"/>
              </a:rPr>
              <a:t>Document Software Requirement Specification (SRS).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latin typeface="Times New Roman"/>
              </a:rPr>
              <a:t>                         </a:t>
            </a:r>
            <a:r>
              <a:rPr b="0" lang="en-IN" sz="1800" spc="-1" strike="noStrike">
                <a:latin typeface="Times New Roman"/>
              </a:rPr>
              <a:t>Identify stakeholder needs and expectations.</a:t>
            </a:r>
            <a:br/>
            <a:r>
              <a:rPr b="0" lang="en-IN" sz="1800" spc="-1" strike="noStrike">
                <a:latin typeface="Times New Roman"/>
              </a:rPr>
              <a:t>                                                                   </a:t>
            </a:r>
            <a:br/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br/>
            <a:r>
              <a:rPr b="0" lang="en-IN" sz="1800" spc="-1" strike="noStrike">
                <a:latin typeface="Times New Roman"/>
              </a:rPr>
              <a:t>Planning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latin typeface="Times New Roman"/>
              </a:rPr>
              <a:t>                    </a:t>
            </a:r>
            <a:r>
              <a:rPr b="0" lang="en-IN" sz="1800" spc="-1" strike="noStrike">
                <a:latin typeface="Times New Roman"/>
              </a:rPr>
              <a:t>Define project scope, set objectives, and goals.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latin typeface="Times New Roman"/>
              </a:rPr>
              <a:t>                    </a:t>
            </a:r>
            <a:r>
              <a:rPr b="0" lang="en-IN" sz="1800" spc="-1" strike="noStrike">
                <a:latin typeface="Times New Roman"/>
              </a:rPr>
              <a:t>Conduct feasibility analysis (technical, operational, and economic).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latin typeface="Times New Roman"/>
              </a:rPr>
              <a:t>                    </a:t>
            </a:r>
            <a:r>
              <a:rPr b="0" lang="en-IN" sz="1800" spc="-1" strike="noStrike">
                <a:latin typeface="Times New Roman"/>
              </a:rPr>
              <a:t>Identify resources, risks, and estimated costs.</a:t>
            </a:r>
            <a:br/>
            <a:br/>
            <a:endParaRPr b="0" lang="en-IN" sz="1800" spc="-1" strike="noStrike">
              <a:latin typeface="Arial"/>
            </a:endParaRPr>
          </a:p>
        </p:txBody>
      </p:sp>
      <p:pic>
        <p:nvPicPr>
          <p:cNvPr id="222" name="" descr=""/>
          <p:cNvPicPr/>
          <p:nvPr/>
        </p:nvPicPr>
        <p:blipFill>
          <a:blip r:embed="rId1"/>
          <a:stretch/>
        </p:blipFill>
        <p:spPr>
          <a:xfrm>
            <a:off x="2880000" y="3960000"/>
            <a:ext cx="5639400" cy="817200"/>
          </a:xfrm>
          <a:prstGeom prst="rect">
            <a:avLst/>
          </a:prstGeom>
          <a:ln>
            <a:noFill/>
          </a:ln>
        </p:spPr>
      </p:pic>
      <p:pic>
        <p:nvPicPr>
          <p:cNvPr id="223" name="" descr=""/>
          <p:cNvPicPr/>
          <p:nvPr/>
        </p:nvPicPr>
        <p:blipFill>
          <a:blip r:embed="rId2"/>
          <a:stretch/>
        </p:blipFill>
        <p:spPr>
          <a:xfrm>
            <a:off x="3669120" y="2088000"/>
            <a:ext cx="5114520" cy="8636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CustomShape 1"/>
          <p:cNvSpPr/>
          <p:nvPr/>
        </p:nvSpPr>
        <p:spPr>
          <a:xfrm>
            <a:off x="288000" y="162360"/>
            <a:ext cx="4513320" cy="701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1" lang="en" sz="2100" spc="-1" strike="noStrike">
                <a:solidFill>
                  <a:srgbClr val="003761"/>
                </a:solidFill>
                <a:latin typeface="Times New Roman"/>
                <a:ea typeface="Times New Roman"/>
              </a:rPr>
              <a:t>PHASE OF SDLC</a:t>
            </a:r>
            <a:endParaRPr b="0" lang="en-IN" sz="2100" spc="-1" strike="noStrike">
              <a:latin typeface="Arial"/>
            </a:endParaRPr>
          </a:p>
        </p:txBody>
      </p:sp>
      <p:sp>
        <p:nvSpPr>
          <p:cNvPr id="225" name="CustomShape 2"/>
          <p:cNvSpPr/>
          <p:nvPr/>
        </p:nvSpPr>
        <p:spPr>
          <a:xfrm>
            <a:off x="216000" y="720000"/>
            <a:ext cx="8711280" cy="4103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6" name="CustomShape 3"/>
          <p:cNvSpPr/>
          <p:nvPr/>
        </p:nvSpPr>
        <p:spPr>
          <a:xfrm>
            <a:off x="216360" y="1080360"/>
            <a:ext cx="4607280" cy="2447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7" name="CustomShape 4"/>
          <p:cNvSpPr/>
          <p:nvPr/>
        </p:nvSpPr>
        <p:spPr>
          <a:xfrm>
            <a:off x="72000" y="601200"/>
            <a:ext cx="7588440" cy="4222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br/>
            <a:br/>
            <a:endParaRPr b="0" lang="en-IN" sz="1800" spc="-1" strike="noStrike">
              <a:latin typeface="Arial"/>
            </a:endParaRPr>
          </a:p>
        </p:txBody>
      </p:sp>
      <p:sp>
        <p:nvSpPr>
          <p:cNvPr id="228" name="CustomShape 5"/>
          <p:cNvSpPr/>
          <p:nvPr/>
        </p:nvSpPr>
        <p:spPr>
          <a:xfrm>
            <a:off x="0" y="700560"/>
            <a:ext cx="7588440" cy="4122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</p:txBody>
      </p:sp>
      <p:sp>
        <p:nvSpPr>
          <p:cNvPr id="229" name="CustomShape 6"/>
          <p:cNvSpPr/>
          <p:nvPr/>
        </p:nvSpPr>
        <p:spPr>
          <a:xfrm>
            <a:off x="0" y="648000"/>
            <a:ext cx="8783640" cy="4247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IN" sz="1800" spc="-1" strike="noStrike">
                <a:latin typeface="Times New Roman"/>
              </a:rPr>
              <a:t>System Design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latin typeface="Times New Roman"/>
              </a:rPr>
              <a:t>                    </a:t>
            </a:r>
            <a:r>
              <a:rPr b="0" lang="en-IN" sz="1800" spc="-1" strike="noStrike">
                <a:latin typeface="Times New Roman"/>
              </a:rPr>
              <a:t>Create software architecture and database design.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latin typeface="Times New Roman"/>
              </a:rPr>
              <a:t>                    </a:t>
            </a:r>
            <a:r>
              <a:rPr b="0" lang="en-IN" sz="1800" spc="-1" strike="noStrike">
                <a:latin typeface="Times New Roman"/>
              </a:rPr>
              <a:t>Design UI/UX for better user experience.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latin typeface="Times New Roman"/>
              </a:rPr>
              <a:t>                    </a:t>
            </a:r>
            <a:r>
              <a:rPr b="0" lang="en-IN" sz="1800" spc="-1" strike="noStrike">
                <a:latin typeface="Times New Roman"/>
              </a:rPr>
              <a:t>Plan system security, scalability, and integrations..</a:t>
            </a:r>
            <a:br/>
            <a:br/>
            <a:br/>
            <a:br/>
            <a:r>
              <a:rPr b="0" lang="en-IN" sz="1800" spc="-1" strike="noStrike">
                <a:latin typeface="Times New Roman"/>
              </a:rPr>
              <a:t> Development (Implementation)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latin typeface="Times New Roman"/>
              </a:rPr>
              <a:t>                         </a:t>
            </a:r>
            <a:r>
              <a:rPr b="0" lang="en-IN" sz="1800" spc="-1" strike="noStrike">
                <a:latin typeface="Times New Roman"/>
              </a:rPr>
              <a:t>Developers write code based on design specifications.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latin typeface="Times New Roman"/>
              </a:rPr>
              <a:t>                         </a:t>
            </a:r>
            <a:r>
              <a:rPr b="0" lang="en-IN" sz="1800" spc="-1" strike="noStrike">
                <a:latin typeface="Times New Roman"/>
              </a:rPr>
              <a:t>Follow coding best practices, frameworks, and tools.</a:t>
            </a:r>
            <a:br/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br/>
            <a:r>
              <a:rPr b="0" lang="en-IN" sz="1800" spc="-1" strike="noStrike">
                <a:latin typeface="Times New Roman"/>
              </a:rPr>
              <a:t>                                                                   </a:t>
            </a:r>
            <a:br/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</p:txBody>
      </p:sp>
      <p:pic>
        <p:nvPicPr>
          <p:cNvPr id="230" name="" descr=""/>
          <p:cNvPicPr/>
          <p:nvPr/>
        </p:nvPicPr>
        <p:blipFill>
          <a:blip r:embed="rId1"/>
          <a:stretch/>
        </p:blipFill>
        <p:spPr>
          <a:xfrm>
            <a:off x="3384000" y="1800000"/>
            <a:ext cx="4967640" cy="748080"/>
          </a:xfrm>
          <a:prstGeom prst="rect">
            <a:avLst/>
          </a:prstGeom>
          <a:ln>
            <a:noFill/>
          </a:ln>
        </p:spPr>
      </p:pic>
      <p:pic>
        <p:nvPicPr>
          <p:cNvPr id="231" name="" descr=""/>
          <p:cNvPicPr/>
          <p:nvPr/>
        </p:nvPicPr>
        <p:blipFill>
          <a:blip r:embed="rId2"/>
          <a:stretch/>
        </p:blipFill>
        <p:spPr>
          <a:xfrm>
            <a:off x="1584360" y="3600000"/>
            <a:ext cx="7199280" cy="8636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CustomShape 1"/>
          <p:cNvSpPr/>
          <p:nvPr/>
        </p:nvSpPr>
        <p:spPr>
          <a:xfrm>
            <a:off x="432000" y="234000"/>
            <a:ext cx="4513320" cy="701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1" lang="en" sz="2100" spc="-1" strike="noStrike">
                <a:solidFill>
                  <a:srgbClr val="003761"/>
                </a:solidFill>
                <a:latin typeface="Times New Roman"/>
                <a:ea typeface="Times New Roman"/>
              </a:rPr>
              <a:t>PHASE OF SDLC</a:t>
            </a:r>
            <a:endParaRPr b="0" lang="en-IN" sz="2100" spc="-1" strike="noStrike">
              <a:latin typeface="Arial"/>
            </a:endParaRPr>
          </a:p>
        </p:txBody>
      </p:sp>
      <p:sp>
        <p:nvSpPr>
          <p:cNvPr id="233" name="CustomShape 2"/>
          <p:cNvSpPr/>
          <p:nvPr/>
        </p:nvSpPr>
        <p:spPr>
          <a:xfrm>
            <a:off x="216000" y="720000"/>
            <a:ext cx="8711280" cy="4103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4" name="CustomShape 3"/>
          <p:cNvSpPr/>
          <p:nvPr/>
        </p:nvSpPr>
        <p:spPr>
          <a:xfrm>
            <a:off x="216360" y="1080360"/>
            <a:ext cx="4607280" cy="2447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5" name="CustomShape 4"/>
          <p:cNvSpPr/>
          <p:nvPr/>
        </p:nvSpPr>
        <p:spPr>
          <a:xfrm>
            <a:off x="72000" y="601200"/>
            <a:ext cx="7588440" cy="4222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br/>
            <a:br/>
            <a:endParaRPr b="0" lang="en-IN" sz="1800" spc="-1" strike="noStrike">
              <a:latin typeface="Arial"/>
            </a:endParaRPr>
          </a:p>
        </p:txBody>
      </p:sp>
      <p:sp>
        <p:nvSpPr>
          <p:cNvPr id="236" name="CustomShape 5"/>
          <p:cNvSpPr/>
          <p:nvPr/>
        </p:nvSpPr>
        <p:spPr>
          <a:xfrm>
            <a:off x="0" y="700560"/>
            <a:ext cx="7588440" cy="4122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</p:txBody>
      </p:sp>
      <p:sp>
        <p:nvSpPr>
          <p:cNvPr id="237" name="CustomShape 6"/>
          <p:cNvSpPr/>
          <p:nvPr/>
        </p:nvSpPr>
        <p:spPr>
          <a:xfrm>
            <a:off x="72000" y="500400"/>
            <a:ext cx="8783640" cy="4648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br/>
            <a:r>
              <a:rPr b="0" lang="en-IN" sz="1800" spc="-1" strike="noStrike">
                <a:latin typeface="Times New Roman"/>
              </a:rPr>
              <a:t>Testing</a:t>
            </a:r>
            <a:br/>
            <a:r>
              <a:rPr b="0" lang="en-IN" sz="1800" spc="-1" strike="noStrike">
                <a:latin typeface="Times New Roman"/>
              </a:rPr>
              <a:t>                 Identify and fix bugs or defects.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latin typeface="Times New Roman"/>
              </a:rPr>
              <a:t>                 </a:t>
            </a:r>
            <a:r>
              <a:rPr b="0" lang="en-IN" sz="1800" spc="-1" strike="noStrike">
                <a:latin typeface="Times New Roman"/>
              </a:rPr>
              <a:t>Perform different testing types Unittest, Integrationtest, Systemtest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latin typeface="Times New Roman"/>
              </a:rPr>
              <a:t>                 </a:t>
            </a:r>
            <a:r>
              <a:rPr b="0" lang="en-IN" sz="1800" spc="-1" strike="noStrike">
                <a:latin typeface="Times New Roman"/>
              </a:rPr>
              <a:t>Ensure security, performance, and compatibility.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br/>
            <a:r>
              <a:rPr b="0" lang="en-IN" sz="1800" spc="-1" strike="noStrike">
                <a:latin typeface="Times New Roman"/>
              </a:rPr>
              <a:t>    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latin typeface="Times New Roman"/>
              </a:rPr>
              <a:t>               </a:t>
            </a:r>
            <a:br/>
            <a:r>
              <a:rPr b="0" lang="en-IN" sz="1800" spc="-1" strike="noStrike">
                <a:latin typeface="Times New Roman"/>
              </a:rPr>
              <a:t>Deployment and mainteance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latin typeface="Times New Roman"/>
              </a:rPr>
              <a:t>                        </a:t>
            </a:r>
            <a:r>
              <a:rPr b="0" lang="en-IN" sz="1800" spc="-1" strike="noStrike">
                <a:latin typeface="Times New Roman"/>
              </a:rPr>
              <a:t>Release software to production or users.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latin typeface="Times New Roman"/>
              </a:rPr>
              <a:t>                        </a:t>
            </a:r>
            <a:r>
              <a:rPr b="0" lang="en-IN" sz="1800" spc="-1" strike="noStrike">
                <a:latin typeface="Times New Roman"/>
              </a:rPr>
              <a:t>Implement continuous integration and delivery (CI/CD).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latin typeface="Times New Roman"/>
              </a:rPr>
              <a:t>                       </a:t>
            </a:r>
            <a:r>
              <a:rPr b="0" lang="en-IN" sz="1800" spc="-1" strike="noStrike">
                <a:latin typeface="Times New Roman"/>
              </a:rPr>
              <a:t>Perform post-deployment monitoring and validation.</a:t>
            </a:r>
            <a:br/>
            <a:r>
              <a:rPr b="0" lang="en-IN" sz="1800" spc="-1" strike="noStrike">
                <a:latin typeface="Times New Roman"/>
              </a:rPr>
              <a:t>                       </a:t>
            </a:r>
            <a:br/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br/>
            <a:r>
              <a:rPr b="0" lang="en-IN" sz="1800" spc="-1" strike="noStrike">
                <a:latin typeface="Times New Roman"/>
              </a:rPr>
              <a:t>                                                                   </a:t>
            </a:r>
            <a:br/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</p:txBody>
      </p:sp>
      <p:pic>
        <p:nvPicPr>
          <p:cNvPr id="238" name="" descr=""/>
          <p:cNvPicPr/>
          <p:nvPr/>
        </p:nvPicPr>
        <p:blipFill>
          <a:blip r:embed="rId1"/>
          <a:stretch/>
        </p:blipFill>
        <p:spPr>
          <a:xfrm>
            <a:off x="3384000" y="1927080"/>
            <a:ext cx="4391640" cy="808560"/>
          </a:xfrm>
          <a:prstGeom prst="rect">
            <a:avLst/>
          </a:prstGeom>
          <a:ln>
            <a:noFill/>
          </a:ln>
        </p:spPr>
      </p:pic>
      <p:pic>
        <p:nvPicPr>
          <p:cNvPr id="239" name="" descr=""/>
          <p:cNvPicPr/>
          <p:nvPr/>
        </p:nvPicPr>
        <p:blipFill>
          <a:blip r:embed="rId2"/>
          <a:stretch/>
        </p:blipFill>
        <p:spPr>
          <a:xfrm>
            <a:off x="1224000" y="3816000"/>
            <a:ext cx="7631640" cy="94968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CustomShape 1"/>
          <p:cNvSpPr/>
          <p:nvPr/>
        </p:nvSpPr>
        <p:spPr>
          <a:xfrm>
            <a:off x="252720" y="299520"/>
            <a:ext cx="8374320" cy="550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spAutoFit/>
          </a:bodyPr>
          <a:p>
            <a:pPr>
              <a:lnSpc>
                <a:spcPct val="115000"/>
              </a:lnSpc>
              <a:spcAft>
                <a:spcPts val="1500"/>
              </a:spcAft>
              <a:tabLst>
                <a:tab algn="l" pos="0"/>
              </a:tabLst>
            </a:pPr>
            <a:r>
              <a:rPr b="1" lang="en" sz="2100" spc="-1" strike="noStrike">
                <a:solidFill>
                  <a:srgbClr val="003761"/>
                </a:solidFill>
                <a:latin typeface="Times New Roman"/>
                <a:ea typeface="Times New Roman"/>
              </a:rPr>
              <a:t>INTRODUCTION OF DEVOPS</a:t>
            </a:r>
            <a:endParaRPr b="0" lang="en-IN" sz="2100" spc="-1" strike="noStrike">
              <a:latin typeface="Arial"/>
            </a:endParaRPr>
          </a:p>
        </p:txBody>
      </p:sp>
      <p:sp>
        <p:nvSpPr>
          <p:cNvPr id="241" name="CustomShape 2"/>
          <p:cNvSpPr/>
          <p:nvPr/>
        </p:nvSpPr>
        <p:spPr>
          <a:xfrm>
            <a:off x="144000" y="831240"/>
            <a:ext cx="9143280" cy="4992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br/>
            <a:r>
              <a:rPr b="0" lang="en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0" lang="en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1.Definition of DevOps                                                   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0" lang="en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2.Why DevOps?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0" lang="en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3.Difference between DevOps &amp; Traditional IT</a:t>
            </a:r>
            <a:br/>
            <a:r>
              <a:rPr b="0" lang="en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br/>
            <a:br/>
            <a:br/>
            <a:r>
              <a:rPr b="1" lang="en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Devops Definition</a:t>
            </a:r>
            <a:r>
              <a:rPr b="0" lang="en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  <a:br/>
            <a:r>
              <a:rPr b="0" lang="en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DevOps is a combination of Development (</a:t>
            </a:r>
            <a:r>
              <a:rPr b="1" lang="en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Dev</a:t>
            </a:r>
            <a:r>
              <a:rPr b="0" lang="en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) and Operations (</a:t>
            </a:r>
            <a:r>
              <a:rPr b="1" lang="en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Ops</a:t>
            </a:r>
            <a:r>
              <a:rPr b="0" lang="en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) that </a:t>
            </a:r>
            <a:br/>
            <a:r>
              <a:rPr b="0" lang="en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focuses on improving </a:t>
            </a:r>
            <a:r>
              <a:rPr b="1" lang="en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collaboration</a:t>
            </a:r>
            <a:r>
              <a:rPr b="0" lang="en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 </a:t>
            </a:r>
            <a:r>
              <a:rPr b="1" lang="en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automation</a:t>
            </a:r>
            <a:r>
              <a:rPr b="0" lang="en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 and </a:t>
            </a:r>
            <a:r>
              <a:rPr b="1" lang="en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continuous integration</a:t>
            </a:r>
            <a:r>
              <a:rPr b="0" lang="en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&amp; </a:t>
            </a:r>
            <a:r>
              <a:rPr b="1" lang="en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Deployment</a:t>
            </a:r>
            <a:r>
              <a:rPr b="0" lang="en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(CI/CD) </a:t>
            </a:r>
            <a:br/>
            <a:r>
              <a:rPr b="0" lang="en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in software development and IT operation.</a:t>
            </a:r>
            <a:br/>
            <a:br/>
            <a:br/>
            <a:br/>
            <a:br/>
            <a:br/>
            <a:endParaRPr b="0" lang="en-IN" sz="1600" spc="-1" strike="noStrike">
              <a:latin typeface="Arial"/>
            </a:endParaRPr>
          </a:p>
        </p:txBody>
      </p:sp>
      <p:pic>
        <p:nvPicPr>
          <p:cNvPr id="242" name="" descr=""/>
          <p:cNvPicPr/>
          <p:nvPr/>
        </p:nvPicPr>
        <p:blipFill>
          <a:blip r:embed="rId1"/>
          <a:stretch/>
        </p:blipFill>
        <p:spPr>
          <a:xfrm>
            <a:off x="4392000" y="432000"/>
            <a:ext cx="4666680" cy="286632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CustomShape 1"/>
          <p:cNvSpPr/>
          <p:nvPr/>
        </p:nvSpPr>
        <p:spPr>
          <a:xfrm>
            <a:off x="252720" y="299520"/>
            <a:ext cx="8374320" cy="10468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4" name="CustomShape 2"/>
          <p:cNvSpPr/>
          <p:nvPr/>
        </p:nvSpPr>
        <p:spPr>
          <a:xfrm>
            <a:off x="444960" y="630360"/>
            <a:ext cx="8482320" cy="731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br/>
            <a:endParaRPr b="0" lang="en-IN" sz="1800" spc="-1" strike="noStrike">
              <a:latin typeface="Arial"/>
            </a:endParaRPr>
          </a:p>
        </p:txBody>
      </p:sp>
      <p:graphicFrame>
        <p:nvGraphicFramePr>
          <p:cNvPr id="245" name="Object 3"/>
          <p:cNvGraphicFramePr/>
          <p:nvPr/>
        </p:nvGraphicFramePr>
        <p:xfrm>
          <a:off x="-1208880" y="144000"/>
          <a:ext cx="6104520" cy="93996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246" name="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-1208880" y="144000"/>
                    <a:ext cx="6104520" cy="939960"/>
                  </a:xfrm>
                  <a:prstGeom prst="rect">
                    <a:avLst/>
                  </a:prstGeom>
                  <a:ln>
                    <a:noFill/>
                  </a:ln>
                </p:spPr>
              </p:pic>
            </p:oleObj>
          </a:graphicData>
        </a:graphic>
      </p:graphicFrame>
      <p:sp>
        <p:nvSpPr>
          <p:cNvPr id="247" name="CustomShape 4"/>
          <p:cNvSpPr/>
          <p:nvPr/>
        </p:nvSpPr>
        <p:spPr>
          <a:xfrm>
            <a:off x="-576000" y="720000"/>
            <a:ext cx="9503280" cy="4247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lvl="2" marL="648000" indent="-21528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IN" sz="1600" spc="-1" strike="noStrike">
                <a:solidFill>
                  <a:srgbClr val="000000"/>
                </a:solidFill>
                <a:latin typeface="Arial"/>
                <a:ea typeface="Lohit Devanagari"/>
              </a:rPr>
              <a:t>Why Devops? </a:t>
            </a:r>
            <a:br/>
            <a:br/>
            <a:r>
              <a:rPr b="0" lang="en-IN" sz="1600" spc="-1" strike="noStrike">
                <a:solidFill>
                  <a:srgbClr val="000000"/>
                </a:solidFill>
                <a:latin typeface="Arial"/>
                <a:ea typeface="Lohit Devanagari"/>
              </a:rPr>
              <a:t>           </a:t>
            </a:r>
            <a:br/>
            <a:r>
              <a:rPr b="0" lang="en-IN" sz="1600" spc="-1" strike="noStrike">
                <a:solidFill>
                  <a:srgbClr val="000000"/>
                </a:solidFill>
                <a:latin typeface="Arial"/>
                <a:ea typeface="Lohit Devanagari"/>
              </a:rPr>
              <a:t>           Speeds up software delivery </a:t>
            </a:r>
            <a:br/>
            <a:br/>
            <a:r>
              <a:rPr b="0" lang="en-IN" sz="1600" spc="-1" strike="noStrike">
                <a:solidFill>
                  <a:srgbClr val="000000"/>
                </a:solidFill>
                <a:latin typeface="Arial"/>
                <a:ea typeface="Lohit Devanagari"/>
              </a:rPr>
              <a:t>           Improves collaboration between teams                                    </a:t>
            </a:r>
            <a:br/>
            <a:br/>
            <a:r>
              <a:rPr b="0" lang="en-IN" sz="1600" spc="-1" strike="noStrike">
                <a:solidFill>
                  <a:srgbClr val="000000"/>
                </a:solidFill>
                <a:latin typeface="Arial"/>
                <a:ea typeface="Lohit Devanagari"/>
              </a:rPr>
              <a:t>           Enhances automation &amp; reduces manual errors </a:t>
            </a:r>
            <a:br/>
            <a:br/>
            <a:r>
              <a:rPr b="0" lang="en-IN" sz="1600" spc="-1" strike="noStrike">
                <a:solidFill>
                  <a:srgbClr val="000000"/>
                </a:solidFill>
                <a:latin typeface="Arial"/>
                <a:ea typeface="Lohit Devanagari"/>
              </a:rPr>
              <a:t>           Ensures continuous integration &amp; deployment </a:t>
            </a:r>
            <a:br/>
            <a:br/>
            <a:r>
              <a:rPr b="0" lang="en-IN" sz="1600" spc="-1" strike="noStrike">
                <a:solidFill>
                  <a:srgbClr val="000000"/>
                </a:solidFill>
                <a:latin typeface="Arial"/>
                <a:ea typeface="Lohit Devanagari"/>
              </a:rPr>
              <a:t>          Strengthens security with DevsecOps.</a:t>
            </a:r>
            <a:br/>
            <a:r>
              <a:rPr b="0" lang="en-IN" sz="1600" spc="-1" strike="noStrike">
                <a:solidFill>
                  <a:srgbClr val="000000"/>
                </a:solidFill>
                <a:latin typeface="Arial"/>
                <a:ea typeface="Lohit Devanagari"/>
              </a:rPr>
              <a:t>           </a:t>
            </a:r>
            <a:br/>
            <a:r>
              <a:rPr b="0" lang="en-IN" sz="1600" spc="-1" strike="noStrike">
                <a:solidFill>
                  <a:srgbClr val="000000"/>
                </a:solidFill>
                <a:latin typeface="Arial"/>
                <a:ea typeface="Lohit Devanagari"/>
              </a:rPr>
              <a:t>               </a:t>
            </a:r>
            <a:endParaRPr b="0" lang="en-IN" sz="1600" spc="-1" strike="noStrike">
              <a:latin typeface="Arial"/>
            </a:endParaRPr>
          </a:p>
        </p:txBody>
      </p:sp>
      <p:pic>
        <p:nvPicPr>
          <p:cNvPr id="248" name="" descr=""/>
          <p:cNvPicPr/>
          <p:nvPr/>
        </p:nvPicPr>
        <p:blipFill>
          <a:blip r:embed="rId3"/>
          <a:stretch/>
        </p:blipFill>
        <p:spPr>
          <a:xfrm>
            <a:off x="5040000" y="-3960"/>
            <a:ext cx="5142960" cy="51429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CustomShape 1"/>
          <p:cNvSpPr/>
          <p:nvPr/>
        </p:nvSpPr>
        <p:spPr>
          <a:xfrm>
            <a:off x="119520" y="523440"/>
            <a:ext cx="8520120" cy="4084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 </a:t>
            </a:r>
            <a:br/>
            <a:r>
              <a:rPr b="1" lang="en" sz="1600" spc="-1" strike="noStrike">
                <a:solidFill>
                  <a:srgbClr val="ffbf00"/>
                </a:solidFill>
                <a:latin typeface="Times New Roman"/>
                <a:ea typeface="Times New Roman"/>
              </a:rPr>
              <a:t>Difference between DevOps &amp; Traditional IT</a:t>
            </a:r>
            <a:br/>
            <a:r>
              <a:rPr b="1" lang="en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br/>
            <a:r>
              <a:rPr b="1" lang="en-IN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Collaboration &amp; Communication</a:t>
            </a:r>
            <a:br/>
            <a:r>
              <a:rPr b="1" lang="en-IN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                      </a:t>
            </a: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DevOps : Integrated Dev &amp; Ops teams, continuous feedback.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                        </a:t>
            </a: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Traditional IT</a:t>
            </a:r>
            <a:r>
              <a:rPr b="1" lang="en-IN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Siloed teams, delayed communication.</a:t>
            </a:r>
            <a:br/>
            <a:br/>
            <a:r>
              <a:rPr b="1" lang="en-IN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Development Cycle: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                       </a:t>
            </a: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DevOps:Agile, CI/CD, fast &amp; frequent releases.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                       </a:t>
            </a: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Traditional IT: Waterfall, long development cycles.</a:t>
            </a:r>
            <a:br/>
            <a:br/>
            <a:r>
              <a:rPr b="1" lang="en-IN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Automation: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                      </a:t>
            </a: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DevOps: High automation (CI/CD, testing, deployment).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                      </a:t>
            </a: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Traditional IT: Manual processes, slower deployments.</a:t>
            </a:r>
            <a:br/>
            <a:br/>
            <a:endParaRPr b="0" lang="en-IN" sz="1800" spc="-1" strike="noStrike">
              <a:latin typeface="Arial"/>
            </a:endParaRPr>
          </a:p>
        </p:txBody>
      </p:sp>
      <p:graphicFrame>
        <p:nvGraphicFramePr>
          <p:cNvPr id="250" name="Object 2"/>
          <p:cNvGraphicFramePr/>
          <p:nvPr/>
        </p:nvGraphicFramePr>
        <p:xfrm>
          <a:off x="-1222920" y="74520"/>
          <a:ext cx="6118560" cy="107712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251" name="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-1222920" y="74520"/>
                    <a:ext cx="6118560" cy="1077120"/>
                  </a:xfrm>
                  <a:prstGeom prst="rect">
                    <a:avLst/>
                  </a:prstGeom>
                  <a:ln>
                    <a:noFill/>
                  </a:ln>
                </p:spPr>
              </p:pic>
            </p:oleObj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CustomShape 1"/>
          <p:cNvSpPr/>
          <p:nvPr/>
        </p:nvSpPr>
        <p:spPr>
          <a:xfrm>
            <a:off x="72000" y="864000"/>
            <a:ext cx="8783280" cy="4898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Infrastructure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                   </a:t>
            </a: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DevOps: Infrastructure as Code (IaC), scalable &amp; repeatable.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                   </a:t>
            </a: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Traditional IT: Manual infrastructure management.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Speed &amp; Flexibility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                  </a:t>
            </a: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DevOps: Rapid releases, adaptive to changes.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                  </a:t>
            </a: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Traditional IT: Slow, rigid updates.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Monitoring &amp; Feedback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                  </a:t>
            </a: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DevOps: Continuous monitoring &amp; proactive issue resolution.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                  </a:t>
            </a: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Traditional IT: Reactive monitoring, slower fixes.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Culture: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                </a:t>
            </a: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DevOps: Collaborative, innovation-driven.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                </a:t>
            </a: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Traditional IT: Hierarchical, rigid structure.</a:t>
            </a:r>
            <a:br/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br/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</p:txBody>
      </p:sp>
      <p:graphicFrame>
        <p:nvGraphicFramePr>
          <p:cNvPr id="253" name="Object 2"/>
          <p:cNvGraphicFramePr/>
          <p:nvPr/>
        </p:nvGraphicFramePr>
        <p:xfrm>
          <a:off x="-1295280" y="144000"/>
          <a:ext cx="6118560" cy="100728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254" name="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-1295280" y="144000"/>
                    <a:ext cx="6118560" cy="1007280"/>
                  </a:xfrm>
                  <a:prstGeom prst="rect">
                    <a:avLst/>
                  </a:prstGeom>
                  <a:ln>
                    <a:noFill/>
                  </a:ln>
                </p:spPr>
              </p:pic>
            </p:oleObj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CustomShape 1"/>
          <p:cNvSpPr/>
          <p:nvPr/>
        </p:nvSpPr>
        <p:spPr>
          <a:xfrm>
            <a:off x="72360" y="576000"/>
            <a:ext cx="8783280" cy="4898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br/>
            <a:r>
              <a:rPr b="1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Benefits of DevOps in the SDLC</a:t>
            </a:r>
            <a:br/>
            <a:r>
              <a:rPr b="1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                </a:t>
            </a: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DevOps unites teams and helps drive productivity through automation and new   processes. This results in increased release frequency with fewer issues.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br/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           </a:t>
            </a: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Increased transparency and better communication help DevOps teams minimize platform downtime.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</a:t>
            </a:r>
            <a:br/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   </a:t>
            </a: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Standardized workflows and real-time monitoring enable DevOps teams to resolve incidents faster.</a:t>
            </a:r>
            <a:br/>
            <a:br/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</p:txBody>
      </p:sp>
      <p:sp>
        <p:nvSpPr>
          <p:cNvPr id="256" name="CustomShape 2"/>
          <p:cNvSpPr/>
          <p:nvPr/>
        </p:nvSpPr>
        <p:spPr>
          <a:xfrm>
            <a:off x="144000" y="-72000"/>
            <a:ext cx="7055640" cy="596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br/>
            <a:r>
              <a:rPr b="1" lang="en-IN" sz="1800" spc="-1" strike="noStrike">
                <a:latin typeface="Times New Roman"/>
              </a:rPr>
              <a:t>Benefits of DevOps</a:t>
            </a:r>
            <a:endParaRPr b="0" lang="en-IN" sz="1800" spc="-1" strike="noStrike">
              <a:latin typeface="Arial"/>
            </a:endParaRPr>
          </a:p>
        </p:txBody>
      </p:sp>
      <p:pic>
        <p:nvPicPr>
          <p:cNvPr id="257" name="" descr=""/>
          <p:cNvPicPr/>
          <p:nvPr/>
        </p:nvPicPr>
        <p:blipFill>
          <a:blip r:embed="rId1"/>
          <a:stretch/>
        </p:blipFill>
        <p:spPr>
          <a:xfrm>
            <a:off x="3024000" y="3168000"/>
            <a:ext cx="2087640" cy="19436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CustomShape 1"/>
          <p:cNvSpPr/>
          <p:nvPr/>
        </p:nvSpPr>
        <p:spPr>
          <a:xfrm>
            <a:off x="-360000" y="229680"/>
            <a:ext cx="7703640" cy="705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lvl="2" marL="648000" indent="-215640">
              <a:lnSpc>
                <a:spcPct val="115000"/>
              </a:lnSpc>
              <a:spcAft>
                <a:spcPts val="150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" sz="2100" spc="-1" strike="noStrike">
                <a:solidFill>
                  <a:srgbClr val="003761"/>
                </a:solidFill>
                <a:latin typeface="Times New Roman"/>
                <a:ea typeface="Times New Roman"/>
              </a:rPr>
              <a:t>DEVOPS TOOLS</a:t>
            </a:r>
            <a:endParaRPr b="0" lang="en-IN" sz="2100" spc="-1" strike="noStrike">
              <a:latin typeface="Arial"/>
            </a:endParaRPr>
          </a:p>
        </p:txBody>
      </p:sp>
      <p:graphicFrame>
        <p:nvGraphicFramePr>
          <p:cNvPr id="259" name="Table 2"/>
          <p:cNvGraphicFramePr/>
          <p:nvPr/>
        </p:nvGraphicFramePr>
        <p:xfrm>
          <a:off x="173520" y="634680"/>
          <a:ext cx="4794120" cy="3782160"/>
        </p:xfrm>
        <a:graphic>
          <a:graphicData uri="http://schemas.openxmlformats.org/drawingml/2006/table">
            <a:tbl>
              <a:tblPr/>
              <a:tblGrid>
                <a:gridCol w="2668320"/>
                <a:gridCol w="2126160"/>
              </a:tblGrid>
              <a:tr h="61308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IN" sz="1800" spc="-1" strike="noStrike">
                          <a:latin typeface="Arial"/>
                        </a:rPr>
                        <a:t>CATEGORY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IN" sz="1800" spc="-1" strike="noStrike">
                          <a:latin typeface="Arial"/>
                        </a:rPr>
                        <a:t>Popular Tools</a:t>
                      </a:r>
                      <a:endParaRPr b="0" lang="en-IN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b="0" lang="en-IN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</a:tr>
              <a:tr h="60588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latin typeface="Arial"/>
                        </a:rPr>
                        <a:t>Source Code Management</a:t>
                      </a:r>
                      <a:r>
                        <a:rPr b="0" lang="en-IN" sz="1800" spc="-1" strike="noStrike">
                          <a:latin typeface="Arial"/>
                        </a:rPr>
                        <a:t>	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latin typeface="Arial"/>
                        </a:rPr>
                        <a:t>Git, SVN</a:t>
                      </a:r>
                      <a:endParaRPr b="0" lang="en-IN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b="0" lang="en-IN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83988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latin typeface="Arial"/>
                        </a:rPr>
                        <a:t>CI/CD</a:t>
                      </a:r>
                      <a:r>
                        <a:rPr b="0" lang="en-IN" sz="1800" spc="-1" strike="noStrike">
                          <a:latin typeface="Arial"/>
                        </a:rPr>
                        <a:t>	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latin typeface="Arial"/>
                        </a:rPr>
                        <a:t>Jenkins, GitHub Actions, GitLab CI/CD</a:t>
                      </a:r>
                      <a:endParaRPr b="0" lang="en-IN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b="0" lang="en-IN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86184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latin typeface="Arial"/>
                        </a:rPr>
                        <a:t>IaC &amp; Configuration</a:t>
                      </a:r>
                      <a:r>
                        <a:rPr b="0" lang="en-IN" sz="1800" spc="-1" strike="noStrike">
                          <a:latin typeface="Arial"/>
                        </a:rPr>
                        <a:t>	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latin typeface="Arial"/>
                        </a:rPr>
                        <a:t>Ansible, Terraform, Puppet, Chef</a:t>
                      </a:r>
                      <a:endParaRPr b="0" lang="en-IN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b="0" lang="en-IN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86184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latin typeface="Arial"/>
                        </a:rPr>
                        <a:t>Containerization</a:t>
                      </a:r>
                      <a:r>
                        <a:rPr b="0" lang="en-IN" sz="1800" spc="-1" strike="noStrike">
                          <a:latin typeface="Arial"/>
                        </a:rPr>
                        <a:t>	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latin typeface="Arial"/>
                        </a:rPr>
                        <a:t>Docker, Kubernetes, OpenShift</a:t>
                      </a:r>
                      <a:endParaRPr b="0" lang="en-IN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b="0" lang="en-IN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0" name="Table 3"/>
          <p:cNvGraphicFramePr/>
          <p:nvPr/>
        </p:nvGraphicFramePr>
        <p:xfrm>
          <a:off x="5083560" y="619200"/>
          <a:ext cx="3815280" cy="3230640"/>
        </p:xfrm>
        <a:graphic>
          <a:graphicData uri="http://schemas.openxmlformats.org/drawingml/2006/table">
            <a:tbl>
              <a:tblPr/>
              <a:tblGrid>
                <a:gridCol w="1898280"/>
                <a:gridCol w="1917360"/>
              </a:tblGrid>
              <a:tr h="37692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IN" sz="1800" spc="-1" strike="noStrike">
                          <a:latin typeface="Arial"/>
                        </a:rPr>
                        <a:t>CATEGORY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IN" sz="1800" spc="-1" strike="noStrike">
                          <a:latin typeface="Arial"/>
                        </a:rPr>
                        <a:t>Popular Tools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</a:tr>
              <a:tr h="111780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latin typeface="Arial"/>
                        </a:rPr>
                        <a:t>Monitoring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latin typeface="Arial"/>
                        </a:rPr>
                        <a:t>Prometheus, Grafana, ELK Stack, Nagios</a:t>
                      </a:r>
                      <a:endParaRPr b="0" lang="en-IN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b="0" lang="en-IN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86184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latin typeface="Arial"/>
                        </a:rPr>
                        <a:t>Security (DevSecOps)</a:t>
                      </a:r>
                      <a:r>
                        <a:rPr b="0" lang="en-IN" sz="1800" spc="-1" strike="noStrike">
                          <a:latin typeface="Arial"/>
                        </a:rPr>
                        <a:t>	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latin typeface="Arial"/>
                        </a:rPr>
                        <a:t>SonarQube, Snyk, Vault</a:t>
                      </a:r>
                      <a:endParaRPr b="0" lang="en-IN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b="0" lang="en-IN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87444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latin typeface="Arial"/>
                        </a:rPr>
                        <a:t>Cloud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latin typeface="Arial"/>
                        </a:rPr>
                        <a:t>AWS, Azure,GCP</a:t>
                      </a:r>
                      <a:endParaRPr b="0" lang="en-IN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b="0" lang="en-IN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1" name="Table 4"/>
          <p:cNvGraphicFramePr/>
          <p:nvPr/>
        </p:nvGraphicFramePr>
        <p:xfrm>
          <a:off x="5054040" y="3862440"/>
          <a:ext cx="3887640" cy="719280"/>
        </p:xfrm>
        <a:graphic>
          <a:graphicData uri="http://schemas.openxmlformats.org/drawingml/2006/table">
            <a:tbl>
              <a:tblPr/>
              <a:tblGrid>
                <a:gridCol w="1944360"/>
                <a:gridCol w="1943640"/>
              </a:tblGrid>
              <a:tr h="71964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latin typeface="Arial"/>
                        </a:rPr>
                        <a:t>Collaboration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latin typeface="Arial"/>
                        </a:rPr>
                        <a:t>Slack, JIRA, Trello</a:t>
                      </a:r>
                      <a:endParaRPr b="0" lang="en-IN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b="0" lang="en-IN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CustomShape 1"/>
          <p:cNvSpPr/>
          <p:nvPr/>
        </p:nvSpPr>
        <p:spPr>
          <a:xfrm>
            <a:off x="72000" y="432000"/>
            <a:ext cx="8927640" cy="4898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br/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what is jenkins?</a:t>
            </a:r>
            <a:br/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             Jenkins is open source of automation server used CI &amp;CD in devops it helps automate the process Building--&gt;,testing--&gt;deploying applications making software Development faster and more efficent.     </a:t>
            </a:r>
            <a:br/>
            <a:br/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Why is Jenkins used in DevOps?</a:t>
            </a:r>
            <a:br/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                Automatically builds, tests, and deploys applications. (CI&amp;CD)</a:t>
            </a:r>
            <a:br/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                Faster Software Delivery, frequent releases with minimal downtime.(code)</a:t>
            </a:r>
            <a:br/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                Early Bug Detection &amp; Improved Quality (Testing)</a:t>
            </a:r>
            <a:br/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               Supports 1,800+ plugins for extended functionality. (Integration Devops)</a:t>
            </a:r>
            <a:br/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               Scalability &amp; Distributed Builds Can distribute builds across multiple machines to                     improve efficiency.(manageing)</a:t>
            </a:r>
            <a:br/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               Platform Independent &amp; Cloud-Friendly (supports cloud)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               </a:t>
            </a: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Open source Large community and extensive documentation.(Free to use)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br/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Automation</a:t>
            </a:r>
            <a:br/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It automate the parts of software </a:t>
            </a:r>
            <a:r>
              <a:rPr b="1" lang="en-IN" sz="18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Development</a:t>
            </a: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--&gt;</a:t>
            </a:r>
            <a:r>
              <a:rPr b="1" lang="en-IN" sz="18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building--&gt;</a:t>
            </a: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,</a:t>
            </a:r>
            <a:r>
              <a:rPr b="1" lang="en-IN" sz="18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testing--&gt;deploying                 code by</a:t>
            </a: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 </a:t>
            </a:r>
            <a:r>
              <a:rPr b="1" lang="en-IN" sz="18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continuous integration</a:t>
            </a: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,(CI) and </a:t>
            </a:r>
            <a:r>
              <a:rPr b="1" lang="en-IN" sz="18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continuous delivery(</a:t>
            </a: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CD</a:t>
            </a:r>
            <a:r>
              <a:rPr b="1" lang="en-IN" sz="18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)</a:t>
            </a: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 / It helps automate              the process of building,testing, and deploying code by integrating with various build tools         and versioncontrol systems infrasturcture also. </a:t>
            </a:r>
            <a:br/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        automation---&gt;Trigger--&gt;Schedule ---&gt;pollscm</a:t>
            </a:r>
            <a:br/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server</a:t>
            </a:r>
            <a:br/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         It is a server-based system that runs in servlet containers such as Apache Tomcat or as                stand-alone web application by default.</a:t>
            </a:r>
            <a:br/>
            <a:br/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      </a:t>
            </a:r>
            <a:br/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</a:t>
            </a:r>
            <a:br/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    </a:t>
            </a:r>
            <a:br/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     </a:t>
            </a:r>
            <a:br/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    </a:t>
            </a:r>
            <a:br/>
            <a:br/>
            <a:br/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</p:txBody>
      </p:sp>
      <p:sp>
        <p:nvSpPr>
          <p:cNvPr id="263" name="CustomShape 2"/>
          <p:cNvSpPr/>
          <p:nvPr/>
        </p:nvSpPr>
        <p:spPr>
          <a:xfrm>
            <a:off x="144000" y="-72000"/>
            <a:ext cx="7055640" cy="84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br/>
            <a:r>
              <a:rPr b="1" lang="en-IN" sz="1800" spc="-1" strike="noStrike">
                <a:latin typeface="Times New Roman"/>
              </a:rPr>
              <a:t>Introduction of Jenkins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CustomShape 1"/>
          <p:cNvSpPr/>
          <p:nvPr/>
        </p:nvSpPr>
        <p:spPr>
          <a:xfrm>
            <a:off x="72000" y="432000"/>
            <a:ext cx="8927640" cy="4898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br/>
            <a:r>
              <a:rPr b="1" lang="en-IN" sz="18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Master-Agent Architecture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              </a:t>
            </a: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Jenkins operates using a central Master node that controls multiple Agent nodes.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               </a:t>
            </a: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The Master assigns tasks (builds, tests, deployments) to Agents, which execute them.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               </a:t>
            </a: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This allows parallel execution of jobs, speeding up the CI/CD process.</a:t>
            </a:r>
            <a:br/>
            <a:r>
              <a:rPr b="1" lang="en-IN" sz="18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Jenkins Master-Agent Architecture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               </a:t>
            </a: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Master Node → Manages jobs, schedules builds, and provides UI.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              </a:t>
            </a: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Agent Nodes → Execute jobs on distributed machines to improve performance.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br/>
            <a:r>
              <a:rPr b="1" lang="en-IN" sz="18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How Jenkins Works? (CI/CD Pipeline Overview)</a:t>
            </a:r>
            <a:br/>
            <a:r>
              <a:rPr b="1" lang="en-IN" sz="18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            </a:t>
            </a: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Developer Commits Code → Code is pushed to a version control system (Git,                           GitHub, GitLab, Bitbucket).</a:t>
            </a:r>
            <a:br/>
            <a:r>
              <a:rPr b="1" lang="en-IN" sz="18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           </a:t>
            </a: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Jenkins Detects Changes → Jenkins triggers a new build when it detects changes in the             repository.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           </a:t>
            </a: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Code is Pulled &amp; Built → Jenkins fetches the latest code and compiles it using build                  tools (Maven, Gradle).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     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   </a:t>
            </a:r>
            <a:br/>
            <a:r>
              <a:rPr b="1" lang="en-IN" sz="18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             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br/>
            <a:br/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    </a:t>
            </a:r>
            <a:br/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     </a:t>
            </a:r>
            <a:br/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    </a:t>
            </a:r>
            <a:br/>
            <a:br/>
            <a:br/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</p:txBody>
      </p:sp>
      <p:sp>
        <p:nvSpPr>
          <p:cNvPr id="265" name="CustomShape 2"/>
          <p:cNvSpPr/>
          <p:nvPr/>
        </p:nvSpPr>
        <p:spPr>
          <a:xfrm>
            <a:off x="144000" y="-72000"/>
            <a:ext cx="7055640" cy="84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br/>
            <a:r>
              <a:rPr b="1" lang="en-IN" sz="1800" spc="-1" strike="noStrike">
                <a:latin typeface="Times New Roman"/>
              </a:rPr>
              <a:t>Introduction of Jenkins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CustomShape 1"/>
          <p:cNvSpPr/>
          <p:nvPr/>
        </p:nvSpPr>
        <p:spPr>
          <a:xfrm>
            <a:off x="72000" y="432000"/>
            <a:ext cx="8927640" cy="4898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br/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Automated Testing  </a:t>
            </a:r>
            <a:br/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           Runs unit tests, integration tests, and security scans to ensure code          quality.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Artifact Creation </a:t>
            </a:r>
            <a:br/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           Generates build artifacts (JAR, WAR, Docker images) and stores them in a                                 repository (Nexus, JFrog).</a:t>
            </a:r>
            <a:br/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Deployment to Staging/Production</a:t>
            </a:r>
            <a:br/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                Deploys the tested application to staging or production environments using tools like                 Ansible, Kubernetes, or Docker.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Monitoring &amp; Feedback</a:t>
            </a:r>
            <a:br/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            Sends real-time feedback, logs, and alerts to developers via email, Slack, or                                dashboards.</a:t>
            </a:r>
            <a:br/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              </a:t>
            </a:r>
            <a:br/>
            <a:r>
              <a:rPr b="1" lang="en-IN" sz="18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             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br/>
            <a:br/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    </a:t>
            </a:r>
            <a:br/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     </a:t>
            </a:r>
            <a:br/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    </a:t>
            </a:r>
            <a:br/>
            <a:br/>
            <a:br/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</p:txBody>
      </p:sp>
      <p:sp>
        <p:nvSpPr>
          <p:cNvPr id="267" name="CustomShape 2"/>
          <p:cNvSpPr/>
          <p:nvPr/>
        </p:nvSpPr>
        <p:spPr>
          <a:xfrm>
            <a:off x="144000" y="-72000"/>
            <a:ext cx="7055640" cy="84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br/>
            <a:r>
              <a:rPr b="1" lang="en-IN" sz="1800" spc="-1" strike="noStrike">
                <a:latin typeface="Times New Roman"/>
              </a:rPr>
              <a:t>Introduction of Jenkins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CustomShape 1"/>
          <p:cNvSpPr/>
          <p:nvPr/>
        </p:nvSpPr>
        <p:spPr>
          <a:xfrm>
            <a:off x="0" y="0"/>
            <a:ext cx="2208600" cy="37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1865</TotalTime>
  <Application>LibreOffice/6.4.7.2$Linux_X86_64 LibreOffice_project/40$Build-2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/>
  <dcterms:modified xsi:type="dcterms:W3CDTF">2025-02-13T14:52:30Z</dcterms:modified>
  <cp:revision>8</cp:revision>
  <dc:subject/>
  <dc:title/>
</cp:coreProperties>
</file>